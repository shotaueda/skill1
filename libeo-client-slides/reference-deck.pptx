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クリック数</c:v>
                </c:pt>
              </c:strCache>
            </c:strRef>
          </c:tx>
          <c:spPr>
            <a:solidFill>
              <a:srgbClr val="2F6FEB"/>
            </a:solidFill>
            <a:ln w="38100" cap="flat">
              <a:solidFill>
                <a:srgbClr val="2F6FE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F6FEB"/>
              </a:solidFill>
              <a:ln w="9525" cap="flat">
                <a:solidFill>
                  <a:srgbClr val="2F6FE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1月</c:v>
                  </c:pt>
                  <c:pt idx="1">
                    <c:v>2月</c:v>
                  </c:pt>
                  <c:pt idx="2">
                    <c:v>3月</c:v>
                  </c:pt>
                  <c:pt idx="3">
                    <c:v>4月</c:v>
                  </c:pt>
                  <c:pt idx="4">
                    <c:v>5月</c:v>
                  </c:pt>
                  <c:pt idx="5">
                    <c:v>6月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12100</c:v>
                </c:pt>
                <c:pt idx="1">
                  <c:v>13050</c:v>
                </c:pt>
                <c:pt idx="2">
                  <c:v>13800</c:v>
                </c:pt>
                <c:pt idx="3">
                  <c:v>16200</c:v>
                </c:pt>
                <c:pt idx="4">
                  <c:v>20500</c:v>
                </c:pt>
                <c:pt idx="5">
                  <c:v>24310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2"/>
                </a:solidFill>
                <a:latin typeface="Yu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1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2"/>
                </a:solidFill>
                <a:latin typeface="Yu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1.png"/><Relationship Id="rId3" Type="http://schemas.openxmlformats.org/officeDocument/2006/relationships/image" Target="../media/image-24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skill1/libeo-client-slides/assets/dot-texture-blue.pn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00400" y="96012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株式会社サンプル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731520" y="20116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Web集客 月次レポート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731520" y="281635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D8E3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2026年6月度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31520" y="41605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100" kern="0" dirty="0">
                <a:solidFill>
                  <a:srgbClr val="D8E3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2026年6月   |   株式会社LIBEO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FEB"/>
          </a:solidFill>
          <a:ln/>
        </p:spPr>
      </p:sp>
      <p:sp>
        <p:nvSpPr>
          <p:cNvPr id="3" name="Text 1"/>
          <p:cNvSpPr/>
          <p:nvPr/>
        </p:nvSpPr>
        <p:spPr>
          <a:xfrm>
            <a:off x="740664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6F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About us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私たちについて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8138160" cy="676656"/>
          </a:xfrm>
          <a:prstGeom prst="roundRect">
            <a:avLst>
              <a:gd name="adj" fmla="val 10811"/>
            </a:avLst>
          </a:prstGeom>
          <a:solidFill>
            <a:srgbClr val="EDF2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121615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FE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078992"/>
            <a:ext cx="7498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Webマーケティング・Web制作・プロダクションマネジメントをワンストップで支援します。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92440" y="47731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02920" y="19202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株式会社LIBEO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" y="2304288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SEO・検索広告・SNS広告・Web制作をワンストップで支援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8803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C54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事業内容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880360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Webマーケティング・Web制作・プロダクションマネジメント事業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24612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C54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所在地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737360" y="3246120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大阪府大阪市西区新町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61188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C54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代表者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737360" y="3611880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嘉島 元貴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397764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C54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サービス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737360" y="3977640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SEO / 検索広告 / SNS広告 / Web制作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74920" y="1920240"/>
            <a:ext cx="3566160" cy="1120140"/>
          </a:xfrm>
          <a:prstGeom prst="roundRect">
            <a:avLst>
              <a:gd name="adj" fmla="val 9796"/>
            </a:avLst>
          </a:prstGeom>
          <a:solidFill>
            <a:srgbClr val="EDF2F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257800" y="20116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設立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257800" y="2249424"/>
            <a:ext cx="320040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2018</a:t>
            </a:r>
            <a:pPr indent="0" marL="0">
              <a:buNone/>
            </a:pPr>
            <a:r>
              <a:rPr lang="en-US" sz="1100" b="1" dirty="0">
                <a:solidFill>
                  <a:srgbClr val="13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年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5074920" y="3177540"/>
            <a:ext cx="3566160" cy="1120140"/>
          </a:xfrm>
          <a:prstGeom prst="roundRect">
            <a:avLst>
              <a:gd name="adj" fmla="val 9796"/>
            </a:avLst>
          </a:prstGeom>
          <a:solidFill>
            <a:srgbClr val="EDF2F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257800" y="32689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資本金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257800" y="3506724"/>
            <a:ext cx="3200400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900</a:t>
            </a:r>
            <a:pPr indent="0" marL="0">
              <a:buNone/>
            </a:pPr>
            <a:r>
              <a:rPr lang="en-US" sz="1100" b="1" dirty="0">
                <a:solidFill>
                  <a:srgbClr val="13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万円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502920" y="43708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出典: https://libeo.co.jp/（法人情報は公開情報に基づく）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本日お伝えすること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8092440" y="47731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05840" y="141732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今月のサマリー（KPIハイライト）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02920" y="1837944"/>
            <a:ext cx="38862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89280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1892808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検索流入の推移と要因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2313432"/>
            <a:ext cx="38862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368296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05840" y="2368296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データ運用の認識ギャップ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2788920"/>
            <a:ext cx="38862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1417320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349240" y="1417320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競合サイトとのポジション比較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46320" y="1837944"/>
            <a:ext cx="38862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892808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349240" y="1892808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改善のビフォー/アフター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46320" y="2313432"/>
            <a:ext cx="38862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0" y="2368296"/>
            <a:ext cx="457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349240" y="2368296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来月の打ち手とロードマップ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46320" y="2788920"/>
            <a:ext cx="3886200" cy="0"/>
          </a:xfrm>
          <a:prstGeom prst="line">
            <a:avLst/>
          </a:prstGeom>
          <a:noFill/>
          <a:ln w="12700">
            <a:solidFill>
              <a:srgbClr val="E1E7F0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skill1/libeo-client-slides/assets/dot-texture-navy.pn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182880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0" b="1" dirty="0">
                <a:solidFill>
                  <a:srgbClr val="2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0" dirty="0"/>
          </a:p>
        </p:txBody>
      </p:sp>
      <p:sp>
        <p:nvSpPr>
          <p:cNvPr id="4" name="Shape 1"/>
          <p:cNvSpPr/>
          <p:nvPr/>
        </p:nvSpPr>
        <p:spPr>
          <a:xfrm>
            <a:off x="2788920" y="2057400"/>
            <a:ext cx="0" cy="1005840"/>
          </a:xfrm>
          <a:prstGeom prst="line">
            <a:avLst/>
          </a:prstGeom>
          <a:noFill/>
          <a:ln w="25400">
            <a:solidFill>
              <a:srgbClr val="2F6FE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063240" y="182880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今月のサマリー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7543800" y="47731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C54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 / 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FEB"/>
          </a:solidFill>
          <a:ln/>
        </p:spPr>
      </p:sp>
      <p:sp>
        <p:nvSpPr>
          <p:cNvPr id="3" name="Text 1"/>
          <p:cNvSpPr/>
          <p:nvPr/>
        </p:nvSpPr>
        <p:spPr>
          <a:xfrm>
            <a:off x="740664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6F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サマリー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KPIハイライト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8138160" cy="676656"/>
          </a:xfrm>
          <a:prstGeom prst="roundRect">
            <a:avLst>
              <a:gd name="adj" fmla="val 10811"/>
            </a:avLst>
          </a:prstGeom>
          <a:solidFill>
            <a:srgbClr val="EDF2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121615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FE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078992"/>
            <a:ext cx="7498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自然検索流入が前月比 +18% と伸長。問い合わせ数も過去最高を更新しました。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92440" y="47731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920240"/>
            <a:ext cx="1863090" cy="1463040"/>
          </a:xfrm>
          <a:prstGeom prst="roundRect">
            <a:avLst>
              <a:gd name="adj" fmla="val 7500"/>
            </a:avLst>
          </a:prstGeom>
          <a:solidFill>
            <a:srgbClr val="EDF2F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0080" y="2084832"/>
            <a:ext cx="15887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自然検索セッション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2331720"/>
            <a:ext cx="168021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24,310</a:t>
            </a:r>
            <a:pPr algn="ctr" indent="0" marL="0">
              <a:buNone/>
            </a:pP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40080" y="3035808"/>
            <a:ext cx="15887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9E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▲ +18.2%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594610" y="1920240"/>
            <a:ext cx="1863090" cy="1463040"/>
          </a:xfrm>
          <a:prstGeom prst="roundRect">
            <a:avLst>
              <a:gd name="adj" fmla="val 7500"/>
            </a:avLst>
          </a:prstGeom>
          <a:solidFill>
            <a:srgbClr val="EDF2F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731770" y="2084832"/>
            <a:ext cx="15887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問い合わせ件数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86050" y="2331720"/>
            <a:ext cx="168021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</a:t>
            </a:r>
            <a:pPr algn="ctr" indent="0" marL="0">
              <a:buNone/>
            </a:pPr>
            <a:r>
              <a:rPr lang="en-US" sz="1400" b="1" dirty="0">
                <a:solidFill>
                  <a:srgbClr val="13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件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2731770" y="3035808"/>
            <a:ext cx="15887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9E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▲ +12件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86300" y="1920240"/>
            <a:ext cx="1863090" cy="1463040"/>
          </a:xfrm>
          <a:prstGeom prst="roundRect">
            <a:avLst>
              <a:gd name="adj" fmla="val 7500"/>
            </a:avLst>
          </a:prstGeom>
          <a:solidFill>
            <a:srgbClr val="EDF2F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823460" y="2084832"/>
            <a:ext cx="15887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電話CV率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77740" y="2331720"/>
            <a:ext cx="168021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</a:t>
            </a:r>
            <a:pPr algn="ctr" indent="0" marL="0">
              <a:buNone/>
            </a:pPr>
            <a:r>
              <a:rPr lang="en-US" sz="1400" b="1" dirty="0">
                <a:solidFill>
                  <a:srgbClr val="13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%</a:t>
            </a:r>
            <a:endParaRPr lang="en-US" sz="4000" dirty="0"/>
          </a:p>
        </p:txBody>
      </p:sp>
      <p:sp>
        <p:nvSpPr>
          <p:cNvPr id="20" name="Text 18"/>
          <p:cNvSpPr/>
          <p:nvPr/>
        </p:nvSpPr>
        <p:spPr>
          <a:xfrm>
            <a:off x="4823460" y="3035808"/>
            <a:ext cx="15887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731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▼ -0.2pt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77990" y="1920240"/>
            <a:ext cx="1863090" cy="1463040"/>
          </a:xfrm>
          <a:prstGeom prst="roundRect">
            <a:avLst>
              <a:gd name="adj" fmla="val 7500"/>
            </a:avLst>
          </a:prstGeom>
          <a:solidFill>
            <a:srgbClr val="EDF2F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915150" y="2084832"/>
            <a:ext cx="15887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平均掲載順位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69430" y="2331720"/>
            <a:ext cx="168021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8.6</a:t>
            </a:r>
            <a:pPr algn="ctr" indent="0" marL="0">
              <a:buNone/>
            </a:pPr>
            <a:r>
              <a:rPr lang="en-US" sz="1400" b="1" dirty="0">
                <a:solidFill>
                  <a:srgbClr val="13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位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6915150" y="3035808"/>
            <a:ext cx="15887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9E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▲ +1.3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43708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出典: Google Search Console / GA4（2026-06-01〜06-30）。電話CVは Salesforce 連携データ。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FEB"/>
          </a:solidFill>
          <a:ln/>
        </p:spPr>
      </p:sp>
      <p:sp>
        <p:nvSpPr>
          <p:cNvPr id="3" name="Text 1"/>
          <p:cNvSpPr/>
          <p:nvPr/>
        </p:nvSpPr>
        <p:spPr>
          <a:xfrm>
            <a:off x="740664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6F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サマリー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検索流入の推移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8138160" cy="676656"/>
          </a:xfrm>
          <a:prstGeom prst="roundRect">
            <a:avLst>
              <a:gd name="adj" fmla="val 10811"/>
            </a:avLst>
          </a:prstGeom>
          <a:solidFill>
            <a:srgbClr val="EDF2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121615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FE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078992"/>
            <a:ext cx="7498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4月の構造化データ実装以降、表示回数・クリック数ともに右肩上がりです。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92440" y="47731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9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02920" y="1920240"/>
          <a:ext cx="566928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6446520" y="1920240"/>
            <a:ext cx="2194560" cy="2468880"/>
          </a:xfrm>
          <a:prstGeom prst="roundRect">
            <a:avLst>
              <a:gd name="adj" fmla="val 5000"/>
            </a:avLst>
          </a:prstGeom>
          <a:solidFill>
            <a:srgbClr val="EDF2F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6629400" y="21031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6F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読み解き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629400" y="2468880"/>
            <a:ext cx="18745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4月の構造化データ実装が起点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地域ページのリライトが寄与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指名検索も微増傾向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FEB"/>
          </a:solidFill>
          <a:ln/>
        </p:spPr>
      </p:sp>
      <p:sp>
        <p:nvSpPr>
          <p:cNvPr id="3" name="Text 1"/>
          <p:cNvSpPr/>
          <p:nvPr/>
        </p:nvSpPr>
        <p:spPr>
          <a:xfrm>
            <a:off x="740664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6F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サマリー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主要指標と媒体別の内訳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8138160" cy="420624"/>
          </a:xfrm>
          <a:prstGeom prst="roundRect">
            <a:avLst>
              <a:gd name="adj" fmla="val 17391"/>
            </a:avLst>
          </a:prstGeom>
          <a:solidFill>
            <a:srgbClr val="EDF2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121615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FE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078992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全体指標に加えて、媒体別の内訳まで1枚で俯瞰できるようにしています。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92440" y="47731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664208"/>
            <a:ext cx="18973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1664208"/>
            <a:ext cx="54864" cy="566928"/>
          </a:xfrm>
          <a:prstGeom prst="rect">
            <a:avLst/>
          </a:prstGeom>
          <a:solidFill>
            <a:srgbClr val="2F6FEB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" y="1719072"/>
            <a:ext cx="1623060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セッション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67512" y="1902318"/>
            <a:ext cx="16230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24,310</a:t>
            </a:r>
            <a:pPr indent="0" marL="0">
              <a:buNone/>
            </a:pPr>
            <a:pPr indent="0" marL="0">
              <a:buNone/>
            </a:pPr>
            <a:r>
              <a:rPr lang="en-US" sz="900" b="1" dirty="0">
                <a:solidFill>
                  <a:srgbClr val="2E9E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▲18.2%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2583180" y="1664208"/>
            <a:ext cx="18973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83180" y="1664208"/>
            <a:ext cx="54864" cy="566928"/>
          </a:xfrm>
          <a:prstGeom prst="rect">
            <a:avLst/>
          </a:prstGeom>
          <a:solidFill>
            <a:srgbClr val="2F6FEB"/>
          </a:solidFill>
          <a:ln/>
        </p:spPr>
      </p:sp>
      <p:sp>
        <p:nvSpPr>
          <p:cNvPr id="15" name="Text 13"/>
          <p:cNvSpPr/>
          <p:nvPr/>
        </p:nvSpPr>
        <p:spPr>
          <a:xfrm>
            <a:off x="2747772" y="1719072"/>
            <a:ext cx="1623060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問い合わせ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747772" y="1902318"/>
            <a:ext cx="16230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</a:t>
            </a:r>
            <a:pPr indent="0" marL="0">
              <a:buNone/>
            </a:pPr>
            <a:r>
              <a:rPr lang="en-US" sz="900" dirty="0">
                <a:solidFill>
                  <a:srgbClr val="13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件</a:t>
            </a:r>
            <a:pPr indent="0" marL="0">
              <a:buNone/>
            </a:pPr>
            <a:r>
              <a:rPr lang="en-US" sz="900" b="1" dirty="0">
                <a:solidFill>
                  <a:srgbClr val="2E9E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▲12件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663440" y="1664208"/>
            <a:ext cx="18973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1664208"/>
            <a:ext cx="54864" cy="566928"/>
          </a:xfrm>
          <a:prstGeom prst="rect">
            <a:avLst/>
          </a:prstGeom>
          <a:solidFill>
            <a:srgbClr val="2F6FEB"/>
          </a:solidFill>
          <a:ln/>
        </p:spPr>
      </p:sp>
      <p:sp>
        <p:nvSpPr>
          <p:cNvPr id="19" name="Text 17"/>
          <p:cNvSpPr/>
          <p:nvPr/>
        </p:nvSpPr>
        <p:spPr>
          <a:xfrm>
            <a:off x="4828032" y="1719072"/>
            <a:ext cx="1623060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CV率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28032" y="1902318"/>
            <a:ext cx="16230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</a:t>
            </a:r>
            <a:pPr indent="0" marL="0">
              <a:buNone/>
            </a:pPr>
            <a:r>
              <a:rPr lang="en-US" sz="900" dirty="0">
                <a:solidFill>
                  <a:srgbClr val="13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%</a:t>
            </a:r>
            <a:pPr indent="0" marL="0">
              <a:buNone/>
            </a:pPr>
            <a:r>
              <a:rPr lang="en-US" sz="900" b="1" dirty="0">
                <a:solidFill>
                  <a:srgbClr val="D731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▼0.2pt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743700" y="1664208"/>
            <a:ext cx="18973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43700" y="1664208"/>
            <a:ext cx="54864" cy="566928"/>
          </a:xfrm>
          <a:prstGeom prst="rect">
            <a:avLst/>
          </a:prstGeom>
          <a:solidFill>
            <a:srgbClr val="2F6FEB"/>
          </a:solidFill>
          <a:ln/>
        </p:spPr>
      </p:sp>
      <p:sp>
        <p:nvSpPr>
          <p:cNvPr id="23" name="Text 21"/>
          <p:cNvSpPr/>
          <p:nvPr/>
        </p:nvSpPr>
        <p:spPr>
          <a:xfrm>
            <a:off x="6908292" y="1719072"/>
            <a:ext cx="1623060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平均順位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908292" y="1902318"/>
            <a:ext cx="16230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8.6</a:t>
            </a:r>
            <a:pPr indent="0" marL="0">
              <a:buNone/>
            </a:pPr>
            <a:r>
              <a:rPr lang="en-US" sz="900" dirty="0">
                <a:solidFill>
                  <a:srgbClr val="13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位</a:t>
            </a:r>
            <a:pPr indent="0" marL="0">
              <a:buNone/>
            </a:pPr>
            <a:r>
              <a:rPr lang="en-US" sz="900" b="1" dirty="0">
                <a:solidFill>
                  <a:srgbClr val="2E9E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 ▲1.3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441448"/>
          <a:ext cx="81381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554480"/>
                <a:gridCol w="1554480"/>
                <a:gridCol w="1554480"/>
                <a:gridCol w="1051560"/>
              </a:tblGrid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媒体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セッション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問い合わせ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CV率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評価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B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自然検索（SEO）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15,420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52件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3.4%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F6FE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◎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Google広告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5,280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21件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4.0%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○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SNS経由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2,140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8件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3.7%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E9E6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○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指名検索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1,470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5件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3.4%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C547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△</a:t>
                      </a:r>
                      <a:endParaRPr lang="en-US" sz="10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FEB"/>
          </a:solidFill>
          <a:ln/>
        </p:spPr>
      </p:sp>
      <p:sp>
        <p:nvSpPr>
          <p:cNvPr id="3" name="Text 1"/>
          <p:cNvSpPr/>
          <p:nvPr/>
        </p:nvSpPr>
        <p:spPr>
          <a:xfrm>
            <a:off x="740664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6F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データ運用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CRMデータと現場実態のズレ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8138160" cy="676656"/>
          </a:xfrm>
          <a:prstGeom prst="roundRect">
            <a:avLst>
              <a:gd name="adj" fmla="val 10811"/>
            </a:avLst>
          </a:prstGeom>
          <a:solidFill>
            <a:srgbClr val="EDF2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121615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FE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078992"/>
            <a:ext cx="7498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CRM上の指標だけでは「問い合わせ質の変化」に気づくまで時間がかかっています。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92440" y="47731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920240"/>
            <a:ext cx="658368" cy="658368"/>
          </a:xfrm>
          <a:prstGeom prst="ellipse">
            <a:avLst/>
          </a:prstGeom>
          <a:solidFill>
            <a:srgbClr val="3C5478"/>
          </a:solidFill>
          <a:ln/>
        </p:spPr>
      </p:sp>
      <p:pic>
        <p:nvPicPr>
          <p:cNvPr id="10" name="Image 0" descr="/home/user/skill1/libeo-client-slides/assets/icons/us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096" y="2091416"/>
            <a:ext cx="316017" cy="316017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20040" y="2596896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マーケ担当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1389888" y="1920240"/>
            <a:ext cx="7251192" cy="658368"/>
          </a:xfrm>
          <a:prstGeom prst="roundRect">
            <a:avLst>
              <a:gd name="adj" fmla="val 16667"/>
            </a:avLst>
          </a:prstGeom>
          <a:solidFill>
            <a:srgbClr val="EDF2FA"/>
          </a:solidFill>
          <a:ln/>
        </p:spPr>
      </p:sp>
      <p:sp>
        <p:nvSpPr>
          <p:cNvPr id="13" name="Text 10"/>
          <p:cNvSpPr/>
          <p:nvPr/>
        </p:nvSpPr>
        <p:spPr>
          <a:xfrm>
            <a:off x="1572768" y="1993392"/>
            <a:ext cx="6885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検索広告で「対応外×商品名×効かない」の語句からCVが取れている。この系統を強化したい。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502920" y="2798064"/>
            <a:ext cx="38176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649224" y="2926080"/>
            <a:ext cx="292608" cy="292608"/>
          </a:xfrm>
          <a:prstGeom prst="ellipse">
            <a:avLst/>
          </a:prstGeom>
          <a:solidFill>
            <a:srgbClr val="2F6FEB"/>
          </a:solidFill>
          <a:ln/>
        </p:spPr>
      </p:sp>
      <p:pic>
        <p:nvPicPr>
          <p:cNvPr id="16" name="Image 1" descr="/home/user/skill1/libeo-client-slides/assets/icons/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302" y="3002158"/>
            <a:ext cx="140452" cy="14045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051560" y="2907792"/>
            <a:ext cx="31318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CRMで見えているデータ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685800" y="3291840"/>
            <a:ext cx="345186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問い合わせ率は上昇（数値上は良好）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失注理由は「対象外」として記録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現調獲得率が低下（原因が見えない）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823460" y="2798064"/>
            <a:ext cx="38176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969764" y="2926080"/>
            <a:ext cx="292608" cy="292608"/>
          </a:xfrm>
          <a:prstGeom prst="ellipse">
            <a:avLst/>
          </a:prstGeom>
          <a:solidFill>
            <a:srgbClr val="D73120"/>
          </a:solidFill>
          <a:ln/>
        </p:spPr>
      </p:sp>
      <p:pic>
        <p:nvPicPr>
          <p:cNvPr id="21" name="Image 2" descr="/home/user/skill1/libeo-client-slides/assets/icons/warn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5842" y="3002158"/>
            <a:ext cx="140452" cy="14045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372100" y="2907792"/>
            <a:ext cx="31318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実際に起きていること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5006340" y="3291840"/>
            <a:ext cx="345186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低単価層（対応外の問い合わせ）が増加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現調まで至らない問い合わせが増えている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失注内訳がCRM上で区別できない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4320540" y="3232404"/>
            <a:ext cx="502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C5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≠</a:t>
            </a:r>
            <a:endParaRPr lang="en-US" sz="2600" dirty="0"/>
          </a:p>
        </p:txBody>
      </p:sp>
      <p:sp>
        <p:nvSpPr>
          <p:cNvPr id="25" name="Shape 20"/>
          <p:cNvSpPr/>
          <p:nvPr/>
        </p:nvSpPr>
        <p:spPr>
          <a:xfrm>
            <a:off x="502920" y="4379976"/>
            <a:ext cx="8138160" cy="402336"/>
          </a:xfrm>
          <a:prstGeom prst="rect">
            <a:avLst/>
          </a:prstGeom>
          <a:solidFill>
            <a:srgbClr val="13223B"/>
          </a:solidFill>
          <a:ln/>
        </p:spPr>
      </p:sp>
      <p:sp>
        <p:nvSpPr>
          <p:cNvPr id="26" name="Text 21"/>
          <p:cNvSpPr/>
          <p:nvPr/>
        </p:nvSpPr>
        <p:spPr>
          <a:xfrm>
            <a:off x="685800" y="4379976"/>
            <a:ext cx="7772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CRMのデータだけでは「問い合わせ質の変化」を把握できず、気づきに時間とコストが生じる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FEB"/>
          </a:solidFill>
          <a:ln/>
        </p:spPr>
      </p:sp>
      <p:sp>
        <p:nvSpPr>
          <p:cNvPr id="3" name="Text 1"/>
          <p:cNvSpPr/>
          <p:nvPr/>
        </p:nvSpPr>
        <p:spPr>
          <a:xfrm>
            <a:off x="740664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6F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課題と打ち手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残課題と次の一手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8138160" cy="676656"/>
          </a:xfrm>
          <a:prstGeom prst="roundRect">
            <a:avLst>
              <a:gd name="adj" fmla="val 10811"/>
            </a:avLst>
          </a:prstGeom>
          <a:solidFill>
            <a:srgbClr val="EDF2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121615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FE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078992"/>
            <a:ext cx="7498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流入は伸びた一方、CV率に伸びしろ。導線とフォームの改善を優先します。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92440" y="47731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920240"/>
            <a:ext cx="374904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1920240"/>
            <a:ext cx="3749040" cy="457200"/>
          </a:xfrm>
          <a:prstGeom prst="roundRect">
            <a:avLst>
              <a:gd name="adj" fmla="val 16000"/>
            </a:avLst>
          </a:prstGeom>
          <a:solidFill>
            <a:srgbClr val="D73120"/>
          </a:solidFill>
          <a:ln/>
        </p:spPr>
      </p:sp>
      <p:sp>
        <p:nvSpPr>
          <p:cNvPr id="11" name="Shape 9"/>
          <p:cNvSpPr/>
          <p:nvPr/>
        </p:nvSpPr>
        <p:spPr>
          <a:xfrm>
            <a:off x="502920" y="2148840"/>
            <a:ext cx="3749040" cy="228600"/>
          </a:xfrm>
          <a:prstGeom prst="rect">
            <a:avLst/>
          </a:prstGeom>
          <a:solidFill>
            <a:srgbClr val="D73120"/>
          </a:solidFill>
          <a:ln/>
        </p:spPr>
      </p:sp>
      <p:pic>
        <p:nvPicPr>
          <p:cNvPr id="12" name="Image 0" descr="/home/user/skill1/libeo-client-slides/assets/icons/war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" y="2020824"/>
            <a:ext cx="256032" cy="25603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014984" y="1920240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現状の課題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31520" y="251460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コラム流入は多いが問い合わせに繋がりにくい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電話CTAがファーストビュー外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フォーム離脱率が 62% と高い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スマホでの表示速度に改善余地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4892040" y="1920240"/>
            <a:ext cx="374904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892040" y="1920240"/>
            <a:ext cx="3749040" cy="457200"/>
          </a:xfrm>
          <a:prstGeom prst="roundRect">
            <a:avLst>
              <a:gd name="adj" fmla="val 16000"/>
            </a:avLst>
          </a:prstGeom>
          <a:solidFill>
            <a:srgbClr val="2E9E6B"/>
          </a:solidFill>
          <a:ln/>
        </p:spPr>
      </p:sp>
      <p:sp>
        <p:nvSpPr>
          <p:cNvPr id="17" name="Shape 14"/>
          <p:cNvSpPr/>
          <p:nvPr/>
        </p:nvSpPr>
        <p:spPr>
          <a:xfrm>
            <a:off x="4892040" y="2148840"/>
            <a:ext cx="3749040" cy="228600"/>
          </a:xfrm>
          <a:prstGeom prst="rect">
            <a:avLst/>
          </a:prstGeom>
          <a:solidFill>
            <a:srgbClr val="2E9E6B"/>
          </a:solidFill>
          <a:ln/>
        </p:spPr>
      </p:sp>
      <p:pic>
        <p:nvPicPr>
          <p:cNvPr id="18" name="Image 1" descr="/home/user/skill1/libeo-client-slides/assets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8344" y="2020824"/>
            <a:ext cx="256032" cy="25603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404104" y="1920240"/>
            <a:ext cx="3099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来月の施策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5120640" y="2514600"/>
            <a:ext cx="3291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コラム末尾に地域別CTAを設置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追従電話ボタンを常時表示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フォーム項目を9→5に削減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画像のWebP化・遅延読込を実装</a:t>
            </a:r>
            <a:endParaRPr lang="en-US" sz="1300" dirty="0"/>
          </a:p>
        </p:txBody>
      </p:sp>
      <p:sp>
        <p:nvSpPr>
          <p:cNvPr id="21" name="Shape 17"/>
          <p:cNvSpPr/>
          <p:nvPr/>
        </p:nvSpPr>
        <p:spPr>
          <a:xfrm>
            <a:off x="4361688" y="2898648"/>
            <a:ext cx="420624" cy="512064"/>
          </a:xfrm>
          <a:prstGeom prst="chevron">
            <a:avLst/>
          </a:prstGeom>
          <a:solidFill>
            <a:srgbClr val="2F6FEB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FEB"/>
          </a:solidFill>
          <a:ln/>
        </p:spPr>
      </p:sp>
      <p:sp>
        <p:nvSpPr>
          <p:cNvPr id="3" name="Text 1"/>
          <p:cNvSpPr/>
          <p:nvPr/>
        </p:nvSpPr>
        <p:spPr>
          <a:xfrm>
            <a:off x="740664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6F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改善提案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フォーム改善のビフォー/アフター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8138160" cy="420624"/>
          </a:xfrm>
          <a:prstGeom prst="roundRect">
            <a:avLst>
              <a:gd name="adj" fmla="val 17391"/>
            </a:avLst>
          </a:prstGeom>
          <a:solidFill>
            <a:srgbClr val="EDF2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121615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FE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078992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入力項目を絞り、スマホでの完了率を優先したフォームに刷新します。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92440" y="47731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664208"/>
            <a:ext cx="3703320" cy="2377440"/>
          </a:xfrm>
          <a:prstGeom prst="roundRect">
            <a:avLst>
              <a:gd name="adj" fmla="val 4615"/>
            </a:avLst>
          </a:prstGeom>
          <a:solidFill>
            <a:srgbClr val="EAF0F8"/>
          </a:solidFill>
          <a:ln w="12700">
            <a:solidFill>
              <a:srgbClr val="E1E7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80136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C54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Before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21031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入力9項目・完了率38%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04088" y="2532888"/>
            <a:ext cx="33009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氏名・フリガナを別項目で要求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住所を都道府県〜番地まで必須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相談内容を自由記述のみ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37760" y="1664208"/>
            <a:ext cx="3703320" cy="2377440"/>
          </a:xfrm>
          <a:prstGeom prst="roundRect">
            <a:avLst>
              <a:gd name="adj" fmla="val 4615"/>
            </a:avLst>
          </a:prstGeom>
          <a:solidFill>
            <a:srgbClr val="13223B"/>
          </a:solidFill>
          <a:ln/>
        </p:spPr>
      </p:sp>
      <p:sp>
        <p:nvSpPr>
          <p:cNvPr id="14" name="Text 12"/>
          <p:cNvSpPr/>
          <p:nvPr/>
        </p:nvSpPr>
        <p:spPr>
          <a:xfrm>
            <a:off x="5120640" y="1801368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After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20640" y="210312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入力5項目・完了率想定55%+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138928" y="2532888"/>
            <a:ext cx="33009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8E3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フリガナは自動生成に変更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8E3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市区町村までの入力に簡略化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D8E3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相談内容はチェック選択式に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361688" y="2596896"/>
            <a:ext cx="420624" cy="512064"/>
          </a:xfrm>
          <a:prstGeom prst="chevron">
            <a:avLst/>
          </a:prstGeom>
          <a:solidFill>
            <a:srgbClr val="2F6FEB"/>
          </a:solidFill>
          <a:ln/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FEB"/>
          </a:solidFill>
          <a:ln/>
        </p:spPr>
      </p:sp>
      <p:sp>
        <p:nvSpPr>
          <p:cNvPr id="3" name="Text 1"/>
          <p:cNvSpPr/>
          <p:nvPr/>
        </p:nvSpPr>
        <p:spPr>
          <a:xfrm>
            <a:off x="740664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6F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次フェーズで強化する3領域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8138160" cy="420624"/>
          </a:xfrm>
          <a:prstGeom prst="roundRect">
            <a:avLst>
              <a:gd name="adj" fmla="val 17391"/>
            </a:avLst>
          </a:prstGeom>
          <a:solidFill>
            <a:srgbClr val="EDF2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121615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FE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078992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「コンテンツ」「導線」「指名検索」の3点を同時に伸ばす設計です。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92440" y="47731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664208"/>
            <a:ext cx="252984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475232" y="1920240"/>
            <a:ext cx="585216" cy="585216"/>
          </a:xfrm>
          <a:prstGeom prst="ellipse">
            <a:avLst/>
          </a:prstGeom>
          <a:solidFill>
            <a:srgbClr val="2F6FEB"/>
          </a:solidFill>
          <a:ln/>
        </p:spPr>
      </p:sp>
      <p:pic>
        <p:nvPicPr>
          <p:cNvPr id="11" name="Image 0" descr="/home/user/skill1/libeo-client-slides/assets/icons/docu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27388" y="2072396"/>
            <a:ext cx="280904" cy="28090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85800" y="2624328"/>
            <a:ext cx="216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地域コンテンツの拡充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04088" y="3145536"/>
            <a:ext cx="21275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市区町村別ページを30件追加し、ローカル検索の網羅率を高める。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307080" y="1664208"/>
            <a:ext cx="252984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279392" y="1920240"/>
            <a:ext cx="585216" cy="585216"/>
          </a:xfrm>
          <a:prstGeom prst="ellipse">
            <a:avLst/>
          </a:prstGeom>
          <a:solidFill>
            <a:srgbClr val="2F6FEB"/>
          </a:solidFill>
          <a:ln/>
        </p:spPr>
      </p:sp>
      <p:pic>
        <p:nvPicPr>
          <p:cNvPr id="16" name="Image 1" descr="/home/user/skill1/libeo-client-slides/assets/icons/funne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1548" y="2072396"/>
            <a:ext cx="280904" cy="28090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489960" y="2624328"/>
            <a:ext cx="216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CV導線の最適化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3508248" y="3145536"/>
            <a:ext cx="21275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追従CTA・フォーム改善で、流入を取りこぼさず問い合わせへ繋ぐ。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111240" y="1664208"/>
            <a:ext cx="252984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083552" y="1920240"/>
            <a:ext cx="585216" cy="585216"/>
          </a:xfrm>
          <a:prstGeom prst="ellipse">
            <a:avLst/>
          </a:prstGeom>
          <a:solidFill>
            <a:srgbClr val="2F6FEB"/>
          </a:solidFill>
          <a:ln/>
        </p:spPr>
      </p:sp>
      <p:pic>
        <p:nvPicPr>
          <p:cNvPr id="21" name="Image 2" descr="/home/user/skill1/libeo-client-slides/assets/icons/megapho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5708" y="2072396"/>
            <a:ext cx="280904" cy="28090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294120" y="2624328"/>
            <a:ext cx="216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指名検索の育成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6312408" y="3145536"/>
            <a:ext cx="212750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SNS・実績PRでブランド想起を高め、安定した指名流入を作る。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FEB"/>
          </a:solidFill>
          <a:ln/>
        </p:spPr>
      </p:sp>
      <p:sp>
        <p:nvSpPr>
          <p:cNvPr id="3" name="Text 1"/>
          <p:cNvSpPr/>
          <p:nvPr/>
        </p:nvSpPr>
        <p:spPr>
          <a:xfrm>
            <a:off x="740664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6F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競合比較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主要KBFでの競合ポジション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8138160" cy="676656"/>
          </a:xfrm>
          <a:prstGeom prst="roundRect">
            <a:avLst>
              <a:gd name="adj" fmla="val 10811"/>
            </a:avLst>
          </a:prstGeom>
          <a:solidFill>
            <a:srgbClr val="EDF2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121615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FE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078992"/>
            <a:ext cx="7498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「実績の見せ方」「保証の手厚さ」で優位。価格表現に改善余地があります。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92440" y="47731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920240"/>
          <a:ext cx="813816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371600"/>
                <a:gridCol w="1325880"/>
                <a:gridCol w="1325880"/>
                <a:gridCol w="1325880"/>
              </a:tblGrid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購買決定要因（KBF）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当サイト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A社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B社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C社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23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施工実績の網羅性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F6FE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◎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9E6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○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C547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△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7312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✕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料金のわかりやすさ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C547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△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F6FE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◎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9E6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○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9E6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○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保証制度の手厚さ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F6FE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◎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C547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△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9E6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○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7312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✕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対応エリアの広さ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9E6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○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F6FE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◎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C547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△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9E6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○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8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B2430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口コミ・評判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9E6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○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E9E6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○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F6FEB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◎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3C5478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△</a:t>
                      </a:r>
                      <a:endParaRPr lang="en-US" sz="11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63500" marR="63500" marT="38100" marB="38100" anchor="ctr">
                    <a:lnL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7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02920" y="43708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◎ 優位 / ○ 同等 / △ やや劣位 / ✕ 劣位。評価は2026年6月時点の各社サイト調査に基づく。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FEB"/>
          </a:solidFill>
          <a:ln/>
        </p:spPr>
      </p:sp>
      <p:sp>
        <p:nvSpPr>
          <p:cNvPr id="3" name="Text 1"/>
          <p:cNvSpPr/>
          <p:nvPr/>
        </p:nvSpPr>
        <p:spPr>
          <a:xfrm>
            <a:off x="740664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6F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競合環境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ポジショニングマップ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8138160" cy="676656"/>
          </a:xfrm>
          <a:prstGeom prst="roundRect">
            <a:avLst>
              <a:gd name="adj" fmla="val 10811"/>
            </a:avLst>
          </a:prstGeom>
          <a:solidFill>
            <a:srgbClr val="EDF2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121615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FE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078992"/>
            <a:ext cx="7498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「実績の豊富さ × 価格の明快さ」で、当サイトは右上の空白地帯を狙えます。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92440" y="47731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417320" y="3200400"/>
            <a:ext cx="6309360" cy="0"/>
          </a:xfrm>
          <a:prstGeom prst="line">
            <a:avLst/>
          </a:prstGeom>
          <a:noFill/>
          <a:ln w="19050">
            <a:solidFill>
              <a:srgbClr val="3C547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1920240"/>
            <a:ext cx="0" cy="2560320"/>
          </a:xfrm>
          <a:prstGeom prst="line">
            <a:avLst/>
          </a:prstGeom>
          <a:noFill/>
          <a:ln w="19050">
            <a:solidFill>
              <a:srgbClr val="3C547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63640" y="32461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価格が明快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17320" y="32461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価格が不透明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63440" y="1920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実績が豊富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468880" y="42062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実績が乏しい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772150" y="2368296"/>
            <a:ext cx="566928" cy="566928"/>
          </a:xfrm>
          <a:prstGeom prst="ellipse">
            <a:avLst/>
          </a:prstGeom>
          <a:solidFill>
            <a:srgbClr val="2F6FEB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15534" y="248716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当サイト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92140" y="3246120"/>
            <a:ext cx="457200" cy="457200"/>
          </a:xfrm>
          <a:prstGeom prst="ellipse">
            <a:avLst/>
          </a:prstGeom>
          <a:solidFill>
            <a:srgbClr val="13223B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280660" y="331012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A社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994660" y="2606040"/>
            <a:ext cx="457200" cy="457200"/>
          </a:xfrm>
          <a:prstGeom prst="ellipse">
            <a:avLst/>
          </a:prstGeom>
          <a:solidFill>
            <a:srgbClr val="13223B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583180" y="267004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B社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24912" y="3429000"/>
            <a:ext cx="457200" cy="457200"/>
          </a:xfrm>
          <a:prstGeom prst="ellipse">
            <a:avLst/>
          </a:prstGeom>
          <a:solidFill>
            <a:srgbClr val="13223B"/>
          </a:solidFill>
          <a:ln/>
          <a:effectLst>
            <a:outerShdw sx="100000" sy="100000" kx="0" ky="0" algn="bl" rotWithShape="0" blurRad="88900" dist="38100" dir="54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313432" y="3493008"/>
            <a:ext cx="1280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C社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FEB"/>
          </a:solidFill>
          <a:ln/>
        </p:spPr>
      </p:sp>
      <p:sp>
        <p:nvSpPr>
          <p:cNvPr id="3" name="Text 1"/>
          <p:cNvSpPr/>
          <p:nvPr/>
        </p:nvSpPr>
        <p:spPr>
          <a:xfrm>
            <a:off x="740664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6F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市場理解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狙うべき顧客ニーズの重なり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8138160" cy="676656"/>
          </a:xfrm>
          <a:prstGeom prst="roundRect">
            <a:avLst>
              <a:gd name="adj" fmla="val 10811"/>
            </a:avLst>
          </a:prstGeom>
          <a:solidFill>
            <a:srgbClr val="EDF2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121615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FE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078992"/>
            <a:ext cx="7498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「価格重視」と「実績重視」が交差する層に対して、保証訴求が刺さります。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92440" y="47731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707296" y="1966358"/>
            <a:ext cx="1729409" cy="1729409"/>
          </a:xfrm>
          <a:prstGeom prst="ellipse">
            <a:avLst/>
          </a:prstGeom>
          <a:solidFill>
            <a:srgbClr val="2F6FEB">
              <a:alpha val="38000"/>
            </a:srgbClr>
          </a:solidFill>
          <a:ln w="19050">
            <a:solidFill>
              <a:srgbClr val="2F6F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23061" y="2635062"/>
            <a:ext cx="1729409" cy="1729409"/>
          </a:xfrm>
          <a:prstGeom prst="ellipse">
            <a:avLst/>
          </a:prstGeom>
          <a:solidFill>
            <a:srgbClr val="3C5478">
              <a:alpha val="38000"/>
            </a:srgbClr>
          </a:solidFill>
          <a:ln w="19050">
            <a:solidFill>
              <a:srgbClr val="3C547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91530" y="2635062"/>
            <a:ext cx="1729409" cy="1729409"/>
          </a:xfrm>
          <a:prstGeom prst="ellipse">
            <a:avLst/>
          </a:prstGeom>
          <a:solidFill>
            <a:srgbClr val="2E9E6B">
              <a:alpha val="38000"/>
            </a:srgbClr>
          </a:solidFill>
          <a:ln w="19050">
            <a:solidFill>
              <a:srgbClr val="2E9E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94760" y="168965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6F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価格重視層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794760" y="194568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見積もり比較を重視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84944" y="399553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C54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実績重視層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784944" y="425156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施工件数・口コミを重視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551998" y="399553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E9E6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保証重視層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551998" y="4251562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長期保証の有無を重視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0" y="30175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狙うべき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中心顧客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FEB"/>
          </a:solidFill>
          <a:ln/>
        </p:spPr>
      </p:sp>
      <p:sp>
        <p:nvSpPr>
          <p:cNvPr id="3" name="Text 1"/>
          <p:cNvSpPr/>
          <p:nvPr/>
        </p:nvSpPr>
        <p:spPr>
          <a:xfrm>
            <a:off x="740664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6F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実行体制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プロジェクト実行体制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8138160" cy="420624"/>
          </a:xfrm>
          <a:prstGeom prst="roundRect">
            <a:avLst>
              <a:gd name="adj" fmla="val 17391"/>
            </a:avLst>
          </a:prstGeom>
          <a:solidFill>
            <a:srgbClr val="EDF2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121615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FE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078992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LIBEO側のディレクターを窓口に、専門チームで各施策を分担します。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92440" y="47731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0" y="1664208"/>
            <a:ext cx="1828800" cy="548640"/>
          </a:xfrm>
          <a:prstGeom prst="roundRect">
            <a:avLst>
              <a:gd name="adj" fmla="val 13333"/>
            </a:avLst>
          </a:prstGeom>
          <a:solidFill>
            <a:srgbClr val="13223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57600" y="166420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ディレクター（窓口）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0" y="2212848"/>
            <a:ext cx="0" cy="256032"/>
          </a:xfrm>
          <a:prstGeom prst="line">
            <a:avLst/>
          </a:prstGeom>
          <a:noFill/>
          <a:ln w="15875">
            <a:solidFill>
              <a:srgbClr val="3C547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5900" y="2468880"/>
            <a:ext cx="6172200" cy="0"/>
          </a:xfrm>
          <a:prstGeom prst="line">
            <a:avLst/>
          </a:prstGeom>
          <a:noFill/>
          <a:ln w="15875">
            <a:solidFill>
              <a:srgbClr val="3C547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85900" y="2468880"/>
            <a:ext cx="0" cy="109728"/>
          </a:xfrm>
          <a:prstGeom prst="line">
            <a:avLst/>
          </a:prstGeom>
          <a:noFill/>
          <a:ln w="15875">
            <a:solidFill>
              <a:srgbClr val="3C547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220" y="2624328"/>
            <a:ext cx="17373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3C547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7220" y="262432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SEO担当
</a:t>
            </a:r>
            <a:pPr algn="ctr" indent="0" marL="0">
              <a:buNone/>
            </a:pPr>
            <a:r>
              <a:rPr lang="en-US" sz="85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コンテンツ・内部対策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543300" y="2468880"/>
            <a:ext cx="0" cy="109728"/>
          </a:xfrm>
          <a:prstGeom prst="line">
            <a:avLst/>
          </a:prstGeom>
          <a:noFill/>
          <a:ln w="15875">
            <a:solidFill>
              <a:srgbClr val="3C547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674620" y="2624328"/>
            <a:ext cx="17373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3C547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674620" y="262432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広告運用担当
</a:t>
            </a:r>
            <a:pPr algn="ctr" indent="0" marL="0">
              <a:buNone/>
            </a:pPr>
            <a:r>
              <a:rPr lang="en-US" sz="85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Google/SNS広告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00700" y="2468880"/>
            <a:ext cx="0" cy="109728"/>
          </a:xfrm>
          <a:prstGeom prst="line">
            <a:avLst/>
          </a:prstGeom>
          <a:noFill/>
          <a:ln w="15875">
            <a:solidFill>
              <a:srgbClr val="3C547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32020" y="2624328"/>
            <a:ext cx="17373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3C547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32020" y="262432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デザイナー
</a:t>
            </a:r>
            <a:pPr algn="ctr" indent="0" marL="0">
              <a:buNone/>
            </a:pPr>
            <a:r>
              <a:rPr lang="en-US" sz="85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LP・バナー制作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658100" y="2468880"/>
            <a:ext cx="0" cy="109728"/>
          </a:xfrm>
          <a:prstGeom prst="line">
            <a:avLst/>
          </a:prstGeom>
          <a:noFill/>
          <a:ln w="15875">
            <a:solidFill>
              <a:srgbClr val="3C547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89420" y="2624328"/>
            <a:ext cx="173736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3C5478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789420" y="262432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データ分析担当
</a:t>
            </a:r>
            <a:pPr algn="ctr" indent="0" marL="0">
              <a:buNone/>
            </a:pPr>
            <a:r>
              <a:rPr lang="en-US" sz="85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GA4/CRM連携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FEB"/>
          </a:solidFill>
          <a:ln/>
        </p:spPr>
      </p:sp>
      <p:sp>
        <p:nvSpPr>
          <p:cNvPr id="3" name="Text 1"/>
          <p:cNvSpPr/>
          <p:nvPr/>
        </p:nvSpPr>
        <p:spPr>
          <a:xfrm>
            <a:off x="740664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6F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市場規模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対応可能な市場規模の整理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8138160" cy="420624"/>
          </a:xfrm>
          <a:prstGeom prst="roundRect">
            <a:avLst>
              <a:gd name="adj" fmla="val 17391"/>
            </a:avLst>
          </a:prstGeom>
          <a:solidFill>
            <a:srgbClr val="EDF2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121615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FE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078992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当面はSOM（即応可能な顧客）の刈り取り精度を優先して高めます。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92440" y="47731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85800" y="1664208"/>
            <a:ext cx="2651760" cy="2651760"/>
          </a:xfrm>
          <a:prstGeom prst="ellipse">
            <a:avLst/>
          </a:prstGeom>
          <a:solidFill>
            <a:srgbClr val="D8E3F0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7760" y="2106168"/>
            <a:ext cx="1767840" cy="1767840"/>
          </a:xfrm>
          <a:prstGeom prst="ellipse">
            <a:avLst/>
          </a:prstGeom>
          <a:solidFill>
            <a:srgbClr val="E3ECF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69720" y="2548128"/>
            <a:ext cx="883920" cy="883920"/>
          </a:xfrm>
          <a:prstGeom prst="ellipse">
            <a:avLst/>
          </a:prstGeom>
          <a:solidFill>
            <a:srgbClr val="2F6FE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71600" y="2670048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SOM
</a:t>
            </a:r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約4.2億円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794760" y="2023872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D8E3F0"/>
          </a:solidFill>
          <a:ln w="9525">
            <a:solidFill>
              <a:srgbClr val="E1E7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50792" y="1664208"/>
            <a:ext cx="4590288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TAM  </a:t>
            </a:r>
            <a:pPr indent="0" marL="0">
              <a:buNone/>
            </a:pPr>
            <a:r>
              <a:rPr lang="en-US" sz="1100" b="1" dirty="0">
                <a:solidFill>
                  <a:srgbClr val="2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約120億円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050792" y="2106168"/>
            <a:ext cx="4590288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地域の関連市場全体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794760" y="2907792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E3ECFC"/>
          </a:solidFill>
          <a:ln w="9525">
            <a:solidFill>
              <a:srgbClr val="E1E7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50792" y="2548128"/>
            <a:ext cx="4590288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SAM  </a:t>
            </a:r>
            <a:pPr indent="0" marL="0">
              <a:buNone/>
            </a:pPr>
            <a:r>
              <a:rPr lang="en-US" sz="1100" b="1" dirty="0">
                <a:solidFill>
                  <a:srgbClr val="2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約38億円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050792" y="2990088"/>
            <a:ext cx="4590288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対応可能エリア×客層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794760" y="3791712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2F6FEB"/>
          </a:solidFill>
          <a:ln w="9525">
            <a:solidFill>
              <a:srgbClr val="E1E7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50792" y="3432048"/>
            <a:ext cx="4590288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SOM  </a:t>
            </a:r>
            <a:pPr indent="0" marL="0">
              <a:buNone/>
            </a:pPr>
            <a:r>
              <a:rPr lang="en-US" sz="1100" b="1" dirty="0">
                <a:solidFill>
                  <a:srgbClr val="2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約4.2億円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050792" y="3874008"/>
            <a:ext cx="4590288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当面刈り取り可能な需要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FEB"/>
          </a:solidFill>
          <a:ln/>
        </p:spPr>
      </p:sp>
      <p:sp>
        <p:nvSpPr>
          <p:cNvPr id="3" name="Text 1"/>
          <p:cNvSpPr/>
          <p:nvPr/>
        </p:nvSpPr>
        <p:spPr>
          <a:xfrm>
            <a:off x="740664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6F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ロードマップ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実行スケジュール（ガント）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8138160" cy="676656"/>
          </a:xfrm>
          <a:prstGeom prst="roundRect">
            <a:avLst>
              <a:gd name="adj" fmla="val 10811"/>
            </a:avLst>
          </a:prstGeom>
          <a:solidFill>
            <a:srgbClr val="EDF2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121615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FE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078992"/>
            <a:ext cx="7498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7月にデータ基盤を整備し、8月以降は導線改善と計測を並行して進めます。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92440" y="47731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14600" y="1920240"/>
            <a:ext cx="1021080" cy="256032"/>
          </a:xfrm>
          <a:prstGeom prst="rect">
            <a:avLst/>
          </a:prstGeom>
          <a:solidFill>
            <a:srgbClr val="13223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1920240"/>
            <a:ext cx="1021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7月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535680" y="1920240"/>
            <a:ext cx="1021080" cy="256032"/>
          </a:xfrm>
          <a:prstGeom prst="rect">
            <a:avLst/>
          </a:prstGeom>
          <a:solidFill>
            <a:srgbClr val="13223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35680" y="1920240"/>
            <a:ext cx="1021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8月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56760" y="1920240"/>
            <a:ext cx="1021080" cy="256032"/>
          </a:xfrm>
          <a:prstGeom prst="rect">
            <a:avLst/>
          </a:prstGeom>
          <a:solidFill>
            <a:srgbClr val="13223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56760" y="1920240"/>
            <a:ext cx="1021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9月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577840" y="1920240"/>
            <a:ext cx="1021080" cy="256032"/>
          </a:xfrm>
          <a:prstGeom prst="rect">
            <a:avLst/>
          </a:prstGeom>
          <a:solidFill>
            <a:srgbClr val="13223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77840" y="1920240"/>
            <a:ext cx="1021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10月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598920" y="1920240"/>
            <a:ext cx="1021080" cy="256032"/>
          </a:xfrm>
          <a:prstGeom prst="rect">
            <a:avLst/>
          </a:prstGeom>
          <a:solidFill>
            <a:srgbClr val="13223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98920" y="1920240"/>
            <a:ext cx="1021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11月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620000" y="1920240"/>
            <a:ext cx="1021080" cy="256032"/>
          </a:xfrm>
          <a:prstGeom prst="rect">
            <a:avLst/>
          </a:prstGeom>
          <a:solidFill>
            <a:srgbClr val="13223B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20000" y="1920240"/>
            <a:ext cx="1021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12月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94360" y="217627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CRM項目整備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542032" y="2240280"/>
            <a:ext cx="1476756" cy="237744"/>
          </a:xfrm>
          <a:prstGeom prst="roundRect">
            <a:avLst>
              <a:gd name="adj" fmla="val 23077"/>
            </a:avLst>
          </a:prstGeom>
          <a:solidFill>
            <a:srgbClr val="2F6FEB"/>
          </a:solidFill>
          <a:ln/>
        </p:spPr>
      </p:sp>
      <p:sp>
        <p:nvSpPr>
          <p:cNvPr id="23" name="Shape 21"/>
          <p:cNvSpPr/>
          <p:nvPr/>
        </p:nvSpPr>
        <p:spPr>
          <a:xfrm>
            <a:off x="502920" y="2542032"/>
            <a:ext cx="8138160" cy="365760"/>
          </a:xfrm>
          <a:prstGeom prst="rect">
            <a:avLst/>
          </a:prstGeom>
          <a:solidFill>
            <a:srgbClr val="EAF0F8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254203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地域ページ拡充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052572" y="2606040"/>
            <a:ext cx="1987296" cy="237744"/>
          </a:xfrm>
          <a:prstGeom prst="roundRect">
            <a:avLst>
              <a:gd name="adj" fmla="val 23077"/>
            </a:avLst>
          </a:prstGeom>
          <a:solidFill>
            <a:srgbClr val="3C5478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290779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フォーム改善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073652" y="2971800"/>
            <a:ext cx="966216" cy="237744"/>
          </a:xfrm>
          <a:prstGeom prst="roundRect">
            <a:avLst>
              <a:gd name="adj" fmla="val 23077"/>
            </a:avLst>
          </a:prstGeom>
          <a:solidFill>
            <a:srgbClr val="2E9E6B"/>
          </a:solidFill>
          <a:ln/>
        </p:spPr>
      </p:sp>
      <p:sp>
        <p:nvSpPr>
          <p:cNvPr id="28" name="Shape 26"/>
          <p:cNvSpPr/>
          <p:nvPr/>
        </p:nvSpPr>
        <p:spPr>
          <a:xfrm>
            <a:off x="502920" y="3273552"/>
            <a:ext cx="8138160" cy="365760"/>
          </a:xfrm>
          <a:prstGeom prst="rect">
            <a:avLst/>
          </a:prstGeom>
          <a:solidFill>
            <a:srgbClr val="EAF0F8"/>
          </a:solidFill>
          <a:ln/>
        </p:spPr>
      </p:sp>
      <p:sp>
        <p:nvSpPr>
          <p:cNvPr id="29" name="Text 27"/>
          <p:cNvSpPr/>
          <p:nvPr/>
        </p:nvSpPr>
        <p:spPr>
          <a:xfrm>
            <a:off x="594360" y="327355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追従CTA実装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84192" y="3337560"/>
            <a:ext cx="966216" cy="237744"/>
          </a:xfrm>
          <a:prstGeom prst="roundRect">
            <a:avLst>
              <a:gd name="adj" fmla="val 23077"/>
            </a:avLst>
          </a:prstGeom>
          <a:solidFill>
            <a:srgbClr val="2E9E6B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" y="3639312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効果測定・改善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605272" y="3703320"/>
            <a:ext cx="3008376" cy="237744"/>
          </a:xfrm>
          <a:prstGeom prst="roundRect">
            <a:avLst>
              <a:gd name="adj" fmla="val 23077"/>
            </a:avLst>
          </a:prstGeom>
          <a:solidFill>
            <a:srgbClr val="2F6FEB"/>
          </a:solidFill>
          <a:ln/>
        </p:spPr>
      </p:sp>
      <p:sp>
        <p:nvSpPr>
          <p:cNvPr id="33" name="Shape 31"/>
          <p:cNvSpPr/>
          <p:nvPr/>
        </p:nvSpPr>
        <p:spPr>
          <a:xfrm>
            <a:off x="2514600" y="2176272"/>
            <a:ext cx="0" cy="1828800"/>
          </a:xfrm>
          <a:prstGeom prst="line">
            <a:avLst/>
          </a:prstGeom>
          <a:noFill/>
          <a:ln w="9525">
            <a:solidFill>
              <a:srgbClr val="E1E7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535680" y="2176272"/>
            <a:ext cx="0" cy="1828800"/>
          </a:xfrm>
          <a:prstGeom prst="line">
            <a:avLst/>
          </a:prstGeom>
          <a:noFill/>
          <a:ln w="9525">
            <a:solidFill>
              <a:srgbClr val="E1E7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56760" y="2176272"/>
            <a:ext cx="0" cy="1828800"/>
          </a:xfrm>
          <a:prstGeom prst="line">
            <a:avLst/>
          </a:prstGeom>
          <a:noFill/>
          <a:ln w="9525">
            <a:solidFill>
              <a:srgbClr val="E1E7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577840" y="2176272"/>
            <a:ext cx="0" cy="1828800"/>
          </a:xfrm>
          <a:prstGeom prst="line">
            <a:avLst/>
          </a:prstGeom>
          <a:noFill/>
          <a:ln w="9525">
            <a:solidFill>
              <a:srgbClr val="E1E7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598920" y="2176272"/>
            <a:ext cx="0" cy="1828800"/>
          </a:xfrm>
          <a:prstGeom prst="line">
            <a:avLst/>
          </a:prstGeom>
          <a:noFill/>
          <a:ln w="9525">
            <a:solidFill>
              <a:srgbClr val="E1E7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620000" y="2176272"/>
            <a:ext cx="0" cy="1828800"/>
          </a:xfrm>
          <a:prstGeom prst="line">
            <a:avLst/>
          </a:prstGeom>
          <a:noFill/>
          <a:ln w="9525">
            <a:solidFill>
              <a:srgbClr val="E1E7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641080" y="2176272"/>
            <a:ext cx="0" cy="1828800"/>
          </a:xfrm>
          <a:prstGeom prst="line">
            <a:avLst/>
          </a:prstGeom>
          <a:noFill/>
          <a:ln w="9525">
            <a:solidFill>
              <a:srgbClr val="E1E7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02920" y="2176272"/>
            <a:ext cx="8138160" cy="0"/>
          </a:xfrm>
          <a:prstGeom prst="line">
            <a:avLst/>
          </a:prstGeom>
          <a:noFill/>
          <a:ln w="9525">
            <a:solidFill>
              <a:srgbClr val="E1E7F0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FEB"/>
          </a:solidFill>
          <a:ln/>
        </p:spPr>
      </p:sp>
      <p:sp>
        <p:nvSpPr>
          <p:cNvPr id="3" name="Text 1"/>
          <p:cNvSpPr/>
          <p:nvPr/>
        </p:nvSpPr>
        <p:spPr>
          <a:xfrm>
            <a:off x="740664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6F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ロードマップ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主要マイルストーン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8138160" cy="420624"/>
          </a:xfrm>
          <a:prstGeom prst="roundRect">
            <a:avLst>
              <a:gd name="adj" fmla="val 17391"/>
            </a:avLst>
          </a:prstGeom>
          <a:solidFill>
            <a:srgbClr val="EDF2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121615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FE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078992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節目ごとの意思決定ポイントを、日付付きの年表で共有します。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92440" y="47731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22960" y="2944368"/>
            <a:ext cx="7498080" cy="0"/>
          </a:xfrm>
          <a:prstGeom prst="line">
            <a:avLst/>
          </a:prstGeom>
          <a:noFill/>
          <a:ln w="25400">
            <a:solidFill>
              <a:srgbClr val="3C547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2376" y="2843784"/>
            <a:ext cx="201168" cy="201168"/>
          </a:xfrm>
          <a:prstGeom prst="ellipse">
            <a:avLst/>
          </a:prstGeom>
          <a:solidFill>
            <a:srgbClr val="2F6FE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" y="25603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C5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2026-07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" y="223113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キックオフ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" y="186537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CRM項目整備開始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21736" y="2843784"/>
            <a:ext cx="201168" cy="201168"/>
          </a:xfrm>
          <a:prstGeom prst="ellipse">
            <a:avLst/>
          </a:prstGeom>
          <a:solidFill>
            <a:srgbClr val="2F6FE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90800" y="312724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C5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2026-08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45080" y="332841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中間レビュー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45080" y="365760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フォーム改善公開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721096" y="2843784"/>
            <a:ext cx="201168" cy="201168"/>
          </a:xfrm>
          <a:prstGeom prst="ellipse">
            <a:avLst/>
          </a:prstGeom>
          <a:solidFill>
            <a:srgbClr val="2F6FE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90160" y="256032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C5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2026-10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44440" y="223113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効果測定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44440" y="1865376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A/Bテスト結果報告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220456" y="2843784"/>
            <a:ext cx="201168" cy="201168"/>
          </a:xfrm>
          <a:prstGeom prst="ellipse">
            <a:avLst/>
          </a:prstGeom>
          <a:solidFill>
            <a:srgbClr val="2F6FE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89520" y="3127248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C5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2027-01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543800" y="3328416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次期計画策定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543800" y="3657600"/>
            <a:ext cx="1554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指名検索施策を協議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FEB"/>
          </a:solidFill>
          <a:ln/>
        </p:spPr>
      </p:sp>
      <p:sp>
        <p:nvSpPr>
          <p:cNvPr id="3" name="Text 1"/>
          <p:cNvSpPr/>
          <p:nvPr/>
        </p:nvSpPr>
        <p:spPr>
          <a:xfrm>
            <a:off x="740664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6F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戦略整理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取り組みの優先順位ピラミッド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8138160" cy="676656"/>
          </a:xfrm>
          <a:prstGeom prst="roundRect">
            <a:avLst>
              <a:gd name="adj" fmla="val 10811"/>
            </a:avLst>
          </a:prstGeom>
          <a:solidFill>
            <a:srgbClr val="EDF2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121615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FE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078992"/>
            <a:ext cx="7498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土台となるデータ精度から着手し、最終的に指名検索の育成へ積み上げます。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92440" y="47731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17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931670" y="1920240"/>
            <a:ext cx="891540" cy="621792"/>
          </a:xfrm>
          <a:prstGeom prst="triangle">
            <a:avLst/>
          </a:prstGeom>
          <a:solidFill>
            <a:srgbClr val="13223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2148840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13223B"/>
          </a:solidFill>
          <a:ln w="9525">
            <a:solidFill>
              <a:srgbClr val="E1E7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28032" y="1920240"/>
            <a:ext cx="3813048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指名検索の育成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28032" y="2231136"/>
            <a:ext cx="3813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ブランド想起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485900" y="2596896"/>
            <a:ext cx="1783080" cy="621792"/>
          </a:xfrm>
          <a:prstGeom prst="rect">
            <a:avLst/>
          </a:prstGeom>
          <a:solidFill>
            <a:srgbClr val="3C547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0" y="2825496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3C5478"/>
          </a:solidFill>
          <a:ln w="9525">
            <a:solidFill>
              <a:srgbClr val="E1E7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28032" y="2596896"/>
            <a:ext cx="3813048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CV導線の最適化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28032" y="2907792"/>
            <a:ext cx="3813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フォーム・CTA改善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040130" y="3273552"/>
            <a:ext cx="2674620" cy="621792"/>
          </a:xfrm>
          <a:prstGeom prst="rect">
            <a:avLst/>
          </a:prstGeom>
          <a:solidFill>
            <a:srgbClr val="2F6FE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0" y="3502152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2F6FEB"/>
          </a:solidFill>
          <a:ln w="9525">
            <a:solidFill>
              <a:srgbClr val="E1E7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28032" y="3273552"/>
            <a:ext cx="3813048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コンテンツ拡充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28032" y="3584448"/>
            <a:ext cx="3813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地域ページ・構造化データ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94360" y="3950208"/>
            <a:ext cx="3566160" cy="621792"/>
          </a:xfrm>
          <a:prstGeom prst="rect">
            <a:avLst/>
          </a:prstGeom>
          <a:solidFill>
            <a:srgbClr val="E3ECFC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0" y="4178808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E3ECFC"/>
          </a:solidFill>
          <a:ln w="9525">
            <a:solidFill>
              <a:srgbClr val="E1E7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8032" y="3950208"/>
            <a:ext cx="3813048" cy="34198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00" b="1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データ精度の担保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28032" y="4261104"/>
            <a:ext cx="3813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CRM/GA4の整備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FEB"/>
          </a:solidFill>
          <a:ln/>
        </p:spPr>
      </p:sp>
      <p:sp>
        <p:nvSpPr>
          <p:cNvPr id="3" name="Text 1"/>
          <p:cNvSpPr/>
          <p:nvPr/>
        </p:nvSpPr>
        <p:spPr>
          <a:xfrm>
            <a:off x="740664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6F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参考事例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類似施策での改善事例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8138160" cy="420624"/>
          </a:xfrm>
          <a:prstGeom prst="roundRect">
            <a:avLst>
              <a:gd name="adj" fmla="val 17391"/>
            </a:avLst>
          </a:prstGeom>
          <a:solidFill>
            <a:srgbClr val="EDF2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121615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FE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078992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同種の施策で、いずれも問い合わせ数が2倍前後に伸びた実績があります。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92440" y="47731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18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664208"/>
            <a:ext cx="2529840" cy="2651760"/>
          </a:xfrm>
          <a:prstGeom prst="roundRect">
            <a:avLst>
              <a:gd name="adj" fmla="val 433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1664208"/>
            <a:ext cx="2529840" cy="384048"/>
          </a:xfrm>
          <a:prstGeom prst="roundRect">
            <a:avLst>
              <a:gd name="adj" fmla="val 19048"/>
            </a:avLst>
          </a:prstGeom>
          <a:solidFill>
            <a:srgbClr val="13223B"/>
          </a:solidFill>
          <a:ln/>
        </p:spPr>
      </p:sp>
      <p:sp>
        <p:nvSpPr>
          <p:cNvPr id="11" name="Shape 9"/>
          <p:cNvSpPr/>
          <p:nvPr/>
        </p:nvSpPr>
        <p:spPr>
          <a:xfrm>
            <a:off x="502920" y="1856232"/>
            <a:ext cx="2529840" cy="192024"/>
          </a:xfrm>
          <a:prstGeom prst="rect">
            <a:avLst/>
          </a:prstGeom>
          <a:solidFill>
            <a:srgbClr val="13223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1664208"/>
            <a:ext cx="225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地域ページ拡充事例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" y="2167128"/>
            <a:ext cx="22006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近隣30エリアのページを新設し、地域名×サービス名の検索順位が改善。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67512" y="3602736"/>
            <a:ext cx="2200656" cy="0"/>
          </a:xfrm>
          <a:prstGeom prst="line">
            <a:avLst/>
          </a:prstGeom>
          <a:noFill/>
          <a:ln w="9525">
            <a:solidFill>
              <a:srgbClr val="E1E7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657600"/>
            <a:ext cx="225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32件/月</a:t>
            </a:r>
            <a:pPr algn="ctr" indent="0" marL="0">
              <a:buNone/>
            </a:pPr>
            <a:r>
              <a:rPr lang="en-US" sz="1200" dirty="0">
                <a:solidFill>
                  <a:srgbClr val="3C54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→  </a:t>
            </a:r>
            <a:pPr algn="ctr" indent="0" marL="0">
              <a:buNone/>
            </a:pPr>
            <a:r>
              <a:rPr lang="en-US" sz="1600" b="1" dirty="0">
                <a:solidFill>
                  <a:srgbClr val="2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68件/月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3931920"/>
            <a:ext cx="225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問い合わせ件数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307080" y="1664208"/>
            <a:ext cx="2529840" cy="2651760"/>
          </a:xfrm>
          <a:prstGeom prst="roundRect">
            <a:avLst>
              <a:gd name="adj" fmla="val 433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307080" y="1664208"/>
            <a:ext cx="2529840" cy="384048"/>
          </a:xfrm>
          <a:prstGeom prst="roundRect">
            <a:avLst>
              <a:gd name="adj" fmla="val 19048"/>
            </a:avLst>
          </a:prstGeom>
          <a:solidFill>
            <a:srgbClr val="13223B"/>
          </a:solidFill>
          <a:ln/>
        </p:spPr>
      </p:sp>
      <p:sp>
        <p:nvSpPr>
          <p:cNvPr id="19" name="Shape 17"/>
          <p:cNvSpPr/>
          <p:nvPr/>
        </p:nvSpPr>
        <p:spPr>
          <a:xfrm>
            <a:off x="3307080" y="1856232"/>
            <a:ext cx="2529840" cy="192024"/>
          </a:xfrm>
          <a:prstGeom prst="rect">
            <a:avLst/>
          </a:prstGeom>
          <a:solidFill>
            <a:srgbClr val="13223B"/>
          </a:solidFill>
          <a:ln/>
        </p:spPr>
      </p:sp>
      <p:sp>
        <p:nvSpPr>
          <p:cNvPr id="20" name="Text 18"/>
          <p:cNvSpPr/>
          <p:nvPr/>
        </p:nvSpPr>
        <p:spPr>
          <a:xfrm>
            <a:off x="3444240" y="1664208"/>
            <a:ext cx="225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フォーム改善事例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1672" y="2167128"/>
            <a:ext cx="22006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入力項目を半減し、スマホ完了率を重視したUIに刷新。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471672" y="3602736"/>
            <a:ext cx="2200656" cy="0"/>
          </a:xfrm>
          <a:prstGeom prst="line">
            <a:avLst/>
          </a:prstGeom>
          <a:noFill/>
          <a:ln w="9525">
            <a:solidFill>
              <a:srgbClr val="E1E7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44240" y="3657600"/>
            <a:ext cx="225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pPr algn="ctr" indent="0" marL="0">
              <a:buNone/>
            </a:pPr>
            <a:r>
              <a:rPr lang="en-US" sz="1200" dirty="0">
                <a:solidFill>
                  <a:srgbClr val="3C54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→  </a:t>
            </a:r>
            <a:pPr algn="ctr" indent="0" marL="0">
              <a:buNone/>
            </a:pPr>
            <a:r>
              <a:rPr lang="en-US" sz="1600" b="1" dirty="0">
                <a:solidFill>
                  <a:srgbClr val="2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58%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444240" y="3931920"/>
            <a:ext cx="225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フォーム完了率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11240" y="1664208"/>
            <a:ext cx="2529840" cy="2651760"/>
          </a:xfrm>
          <a:prstGeom prst="roundRect">
            <a:avLst>
              <a:gd name="adj" fmla="val 4337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11240" y="1664208"/>
            <a:ext cx="2529840" cy="384048"/>
          </a:xfrm>
          <a:prstGeom prst="roundRect">
            <a:avLst>
              <a:gd name="adj" fmla="val 19048"/>
            </a:avLst>
          </a:prstGeom>
          <a:solidFill>
            <a:srgbClr val="13223B"/>
          </a:solidFill>
          <a:ln/>
        </p:spPr>
      </p:sp>
      <p:sp>
        <p:nvSpPr>
          <p:cNvPr id="27" name="Shape 25"/>
          <p:cNvSpPr/>
          <p:nvPr/>
        </p:nvSpPr>
        <p:spPr>
          <a:xfrm>
            <a:off x="6111240" y="1856232"/>
            <a:ext cx="2529840" cy="192024"/>
          </a:xfrm>
          <a:prstGeom prst="rect">
            <a:avLst/>
          </a:prstGeom>
          <a:solidFill>
            <a:srgbClr val="13223B"/>
          </a:solidFill>
          <a:ln/>
        </p:spPr>
      </p:sp>
      <p:sp>
        <p:nvSpPr>
          <p:cNvPr id="28" name="Text 26"/>
          <p:cNvSpPr/>
          <p:nvPr/>
        </p:nvSpPr>
        <p:spPr>
          <a:xfrm>
            <a:off x="6248400" y="1664208"/>
            <a:ext cx="225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追従CTA導入事例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75832" y="2167128"/>
            <a:ext cx="2200656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コラム記事に追従型の電話・問い合わせボタンを常時表示。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75832" y="3602736"/>
            <a:ext cx="2200656" cy="0"/>
          </a:xfrm>
          <a:prstGeom prst="line">
            <a:avLst/>
          </a:prstGeom>
          <a:noFill/>
          <a:ln w="9525">
            <a:solidFill>
              <a:srgbClr val="E1E7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48400" y="3657600"/>
            <a:ext cx="2255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B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1.8%</a:t>
            </a:r>
            <a:pPr algn="ctr" indent="0" marL="0">
              <a:buNone/>
            </a:pPr>
            <a:r>
              <a:rPr lang="en-US" sz="1200" dirty="0">
                <a:solidFill>
                  <a:srgbClr val="3C54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 →  </a:t>
            </a:r>
            <a:pPr algn="ctr" indent="0" marL="0">
              <a:buNone/>
            </a:pPr>
            <a:r>
              <a:rPr lang="en-US" sz="1600" b="1" dirty="0">
                <a:solidFill>
                  <a:srgbClr val="2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3.6%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248400" y="3931920"/>
            <a:ext cx="2255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CV率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FEB"/>
          </a:solidFill>
          <a:ln/>
        </p:spPr>
      </p:sp>
      <p:sp>
        <p:nvSpPr>
          <p:cNvPr id="3" name="Text 1"/>
          <p:cNvSpPr/>
          <p:nvPr/>
        </p:nvSpPr>
        <p:spPr>
          <a:xfrm>
            <a:off x="740664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6F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顧客理解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主要ペルソナの整理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8138160" cy="420624"/>
          </a:xfrm>
          <a:prstGeom prst="roundRect">
            <a:avLst>
              <a:gd name="adj" fmla="val 17391"/>
            </a:avLst>
          </a:prstGeom>
          <a:solidFill>
            <a:srgbClr val="EDF2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121615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FE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078992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検討フェーズの異なる3つのペルソナに向けて、訴求を出し分けます。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92440" y="47731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19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664208"/>
            <a:ext cx="2529840" cy="2651760"/>
          </a:xfrm>
          <a:prstGeom prst="roundRect">
            <a:avLst>
              <a:gd name="adj" fmla="val 4337"/>
            </a:avLst>
          </a:prstGeom>
          <a:solidFill>
            <a:srgbClr val="EDF2F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456944" y="1865376"/>
            <a:ext cx="621792" cy="621792"/>
          </a:xfrm>
          <a:prstGeom prst="ellipse">
            <a:avLst/>
          </a:prstGeom>
          <a:solidFill>
            <a:srgbClr val="E3ECFC"/>
          </a:solidFill>
          <a:ln w="15875">
            <a:solidFill>
              <a:srgbClr val="2F6F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56944" y="186537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緊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594360" y="2560320"/>
            <a:ext cx="234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緊急対応layer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94360" y="2816352"/>
            <a:ext cx="234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30代・持ち家・初回相談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04088" y="3108960"/>
            <a:ext cx="21275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トラブル発生で即日対応を希望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価格より対応速度を重視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スマホで検索し即電話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07080" y="1664208"/>
            <a:ext cx="2529840" cy="2651760"/>
          </a:xfrm>
          <a:prstGeom prst="roundRect">
            <a:avLst>
              <a:gd name="adj" fmla="val 4337"/>
            </a:avLst>
          </a:prstGeom>
          <a:solidFill>
            <a:srgbClr val="EDF2F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61104" y="1865376"/>
            <a:ext cx="621792" cy="621792"/>
          </a:xfrm>
          <a:prstGeom prst="ellipse">
            <a:avLst/>
          </a:prstGeom>
          <a:solidFill>
            <a:srgbClr val="E3ECFC"/>
          </a:solidFill>
          <a:ln w="15875">
            <a:solidFill>
              <a:srgbClr val="2F6F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61104" y="186537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比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398520" y="2560320"/>
            <a:ext cx="234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比較検討layer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398520" y="2816352"/>
            <a:ext cx="234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40代・持ち家・複数社比較中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508248" y="3108960"/>
            <a:ext cx="21275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3〜5社を見積もり比較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保証内容と実績を重視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コラムを読み込んでから問い合わせ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11240" y="1664208"/>
            <a:ext cx="2529840" cy="2651760"/>
          </a:xfrm>
          <a:prstGeom prst="roundRect">
            <a:avLst>
              <a:gd name="adj" fmla="val 4337"/>
            </a:avLst>
          </a:prstGeom>
          <a:solidFill>
            <a:srgbClr val="EDF2F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065264" y="1865376"/>
            <a:ext cx="621792" cy="621792"/>
          </a:xfrm>
          <a:prstGeom prst="ellipse">
            <a:avLst/>
          </a:prstGeom>
          <a:solidFill>
            <a:srgbClr val="E3ECFC"/>
          </a:solidFill>
          <a:ln w="15875">
            <a:solidFill>
              <a:srgbClr val="2F6F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65264" y="1865376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情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202680" y="2560320"/>
            <a:ext cx="234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情報収集layer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202680" y="2816352"/>
            <a:ext cx="2346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50代・将来の備えとして検討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312408" y="3108960"/>
            <a:ext cx="212750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まだ緊急性は低い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事例・口コミを重視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メルマガや資料請求で情報収集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FEB"/>
          </a:solidFill>
          <a:ln/>
        </p:spPr>
      </p:sp>
      <p:sp>
        <p:nvSpPr>
          <p:cNvPr id="3" name="Text 1"/>
          <p:cNvSpPr/>
          <p:nvPr/>
        </p:nvSpPr>
        <p:spPr>
          <a:xfrm>
            <a:off x="740664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6F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顧客理解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問い合わせまでのカスタマージャーニー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8138160" cy="676656"/>
          </a:xfrm>
          <a:prstGeom prst="roundRect">
            <a:avLst>
              <a:gd name="adj" fmla="val 10811"/>
            </a:avLst>
          </a:prstGeom>
          <a:solidFill>
            <a:srgbClr val="EDF2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121615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FE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078992"/>
            <a:ext cx="7498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比較検討フェーズでの離脱が最も多く、事例コンテンツの拡充が鍵になります。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92440" y="47731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920240"/>
            <a:ext cx="1517904" cy="365760"/>
          </a:xfrm>
          <a:prstGeom prst="roundRect">
            <a:avLst>
              <a:gd name="adj" fmla="val 20000"/>
            </a:avLst>
          </a:prstGeom>
          <a:solidFill>
            <a:srgbClr val="13223B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1920240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認知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377440"/>
            <a:ext cx="1517904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450592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検索広告・SNS広告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94360" y="2971800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「対応してくれる会社はあるか」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179576" y="3675888"/>
            <a:ext cx="164592" cy="457200"/>
          </a:xfrm>
          <a:prstGeom prst="rect">
            <a:avLst/>
          </a:prstGeom>
          <a:solidFill>
            <a:srgbClr val="E1E7F0"/>
          </a:solidFill>
          <a:ln/>
        </p:spPr>
      </p:sp>
      <p:sp>
        <p:nvSpPr>
          <p:cNvPr id="15" name="Shape 13"/>
          <p:cNvSpPr/>
          <p:nvPr/>
        </p:nvSpPr>
        <p:spPr>
          <a:xfrm>
            <a:off x="1179576" y="3858768"/>
            <a:ext cx="164592" cy="274320"/>
          </a:xfrm>
          <a:prstGeom prst="rect">
            <a:avLst/>
          </a:prstGeom>
          <a:solidFill>
            <a:srgbClr val="3C5478"/>
          </a:solidFill>
          <a:ln/>
        </p:spPr>
      </p:sp>
      <p:sp>
        <p:nvSpPr>
          <p:cNvPr id="16" name="Shape 14"/>
          <p:cNvSpPr/>
          <p:nvPr/>
        </p:nvSpPr>
        <p:spPr>
          <a:xfrm>
            <a:off x="2157984" y="1920240"/>
            <a:ext cx="1517904" cy="365760"/>
          </a:xfrm>
          <a:prstGeom prst="roundRect">
            <a:avLst>
              <a:gd name="adj" fmla="val 20000"/>
            </a:avLst>
          </a:prstGeom>
          <a:solidFill>
            <a:srgbClr val="13223B"/>
          </a:solidFill>
          <a:ln/>
        </p:spPr>
      </p:sp>
      <p:sp>
        <p:nvSpPr>
          <p:cNvPr id="17" name="Text 15"/>
          <p:cNvSpPr/>
          <p:nvPr/>
        </p:nvSpPr>
        <p:spPr>
          <a:xfrm>
            <a:off x="2157984" y="1920240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興味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157984" y="2377440"/>
            <a:ext cx="1517904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249424" y="2450592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コラム記事・事例ページ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249424" y="2971800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「ここは信頼できそうか」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834640" y="3675888"/>
            <a:ext cx="164592" cy="457200"/>
          </a:xfrm>
          <a:prstGeom prst="rect">
            <a:avLst/>
          </a:prstGeom>
          <a:solidFill>
            <a:srgbClr val="E1E7F0"/>
          </a:solidFill>
          <a:ln/>
        </p:spPr>
      </p:sp>
      <p:sp>
        <p:nvSpPr>
          <p:cNvPr id="22" name="Shape 20"/>
          <p:cNvSpPr/>
          <p:nvPr/>
        </p:nvSpPr>
        <p:spPr>
          <a:xfrm>
            <a:off x="2834640" y="3858768"/>
            <a:ext cx="164592" cy="274320"/>
          </a:xfrm>
          <a:prstGeom prst="rect">
            <a:avLst/>
          </a:prstGeom>
          <a:solidFill>
            <a:srgbClr val="3C5478"/>
          </a:solidFill>
          <a:ln/>
        </p:spPr>
      </p:sp>
      <p:sp>
        <p:nvSpPr>
          <p:cNvPr id="23" name="Shape 21"/>
          <p:cNvSpPr/>
          <p:nvPr/>
        </p:nvSpPr>
        <p:spPr>
          <a:xfrm>
            <a:off x="3813048" y="1920240"/>
            <a:ext cx="1517904" cy="365760"/>
          </a:xfrm>
          <a:prstGeom prst="roundRect">
            <a:avLst>
              <a:gd name="adj" fmla="val 20000"/>
            </a:avLst>
          </a:prstGeom>
          <a:solidFill>
            <a:srgbClr val="13223B"/>
          </a:solidFill>
          <a:ln/>
        </p:spPr>
      </p:sp>
      <p:sp>
        <p:nvSpPr>
          <p:cNvPr id="24" name="Text 22"/>
          <p:cNvSpPr/>
          <p:nvPr/>
        </p:nvSpPr>
        <p:spPr>
          <a:xfrm>
            <a:off x="3813048" y="1920240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比較検討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813048" y="2377440"/>
            <a:ext cx="1517904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904488" y="2450592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料金ページ・口コミサイト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904488" y="2971800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「他社と比べてどうか」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489704" y="3675888"/>
            <a:ext cx="164592" cy="457200"/>
          </a:xfrm>
          <a:prstGeom prst="rect">
            <a:avLst/>
          </a:prstGeom>
          <a:solidFill>
            <a:srgbClr val="E1E7F0"/>
          </a:solidFill>
          <a:ln/>
        </p:spPr>
      </p:sp>
      <p:sp>
        <p:nvSpPr>
          <p:cNvPr id="29" name="Shape 27"/>
          <p:cNvSpPr/>
          <p:nvPr/>
        </p:nvSpPr>
        <p:spPr>
          <a:xfrm>
            <a:off x="4489704" y="3950208"/>
            <a:ext cx="164592" cy="182880"/>
          </a:xfrm>
          <a:prstGeom prst="rect">
            <a:avLst/>
          </a:prstGeom>
          <a:solidFill>
            <a:srgbClr val="D73120"/>
          </a:solidFill>
          <a:ln/>
        </p:spPr>
      </p:sp>
      <p:sp>
        <p:nvSpPr>
          <p:cNvPr id="30" name="Shape 28"/>
          <p:cNvSpPr/>
          <p:nvPr/>
        </p:nvSpPr>
        <p:spPr>
          <a:xfrm>
            <a:off x="5468112" y="1920240"/>
            <a:ext cx="1517904" cy="365760"/>
          </a:xfrm>
          <a:prstGeom prst="roundRect">
            <a:avLst>
              <a:gd name="adj" fmla="val 20000"/>
            </a:avLst>
          </a:prstGeom>
          <a:solidFill>
            <a:srgbClr val="13223B"/>
          </a:solidFill>
          <a:ln/>
        </p:spPr>
      </p:sp>
      <p:sp>
        <p:nvSpPr>
          <p:cNvPr id="31" name="Text 29"/>
          <p:cNvSpPr/>
          <p:nvPr/>
        </p:nvSpPr>
        <p:spPr>
          <a:xfrm>
            <a:off x="5468112" y="1920240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問い合わせ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68112" y="2377440"/>
            <a:ext cx="1517904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559552" y="2450592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フォーム・電話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559552" y="2971800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「今すぐ相談したい」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144768" y="3675888"/>
            <a:ext cx="164592" cy="457200"/>
          </a:xfrm>
          <a:prstGeom prst="rect">
            <a:avLst/>
          </a:prstGeom>
          <a:solidFill>
            <a:srgbClr val="E1E7F0"/>
          </a:solidFill>
          <a:ln/>
        </p:spPr>
      </p:sp>
      <p:sp>
        <p:nvSpPr>
          <p:cNvPr id="36" name="Shape 34"/>
          <p:cNvSpPr/>
          <p:nvPr/>
        </p:nvSpPr>
        <p:spPr>
          <a:xfrm>
            <a:off x="6144768" y="3767328"/>
            <a:ext cx="164592" cy="365760"/>
          </a:xfrm>
          <a:prstGeom prst="rect">
            <a:avLst/>
          </a:prstGeom>
          <a:solidFill>
            <a:srgbClr val="2E9E6B"/>
          </a:solidFill>
          <a:ln/>
        </p:spPr>
      </p:sp>
      <p:sp>
        <p:nvSpPr>
          <p:cNvPr id="37" name="Shape 35"/>
          <p:cNvSpPr/>
          <p:nvPr/>
        </p:nvSpPr>
        <p:spPr>
          <a:xfrm>
            <a:off x="7123176" y="1920240"/>
            <a:ext cx="1517904" cy="365760"/>
          </a:xfrm>
          <a:prstGeom prst="roundRect">
            <a:avLst>
              <a:gd name="adj" fmla="val 20000"/>
            </a:avLst>
          </a:prstGeom>
          <a:solidFill>
            <a:srgbClr val="13223B"/>
          </a:solidFill>
          <a:ln/>
        </p:spPr>
      </p:sp>
      <p:sp>
        <p:nvSpPr>
          <p:cNvPr id="38" name="Text 36"/>
          <p:cNvSpPr/>
          <p:nvPr/>
        </p:nvSpPr>
        <p:spPr>
          <a:xfrm>
            <a:off x="7123176" y="1920240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契約後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7123176" y="2377440"/>
            <a:ext cx="1517904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7214616" y="2450592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施工・アフターフォロー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214616" y="2971800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「対応は満足できたか」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799832" y="3675888"/>
            <a:ext cx="164592" cy="457200"/>
          </a:xfrm>
          <a:prstGeom prst="rect">
            <a:avLst/>
          </a:prstGeom>
          <a:solidFill>
            <a:srgbClr val="E1E7F0"/>
          </a:solidFill>
          <a:ln/>
        </p:spPr>
      </p:sp>
      <p:sp>
        <p:nvSpPr>
          <p:cNvPr id="43" name="Shape 41"/>
          <p:cNvSpPr/>
          <p:nvPr/>
        </p:nvSpPr>
        <p:spPr>
          <a:xfrm>
            <a:off x="7799832" y="3675888"/>
            <a:ext cx="164592" cy="457200"/>
          </a:xfrm>
          <a:prstGeom prst="rect">
            <a:avLst/>
          </a:prstGeom>
          <a:solidFill>
            <a:srgbClr val="2E9E6B"/>
          </a:solidFill>
          <a:ln/>
        </p:spPr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FEB"/>
          </a:solidFill>
          <a:ln/>
        </p:spPr>
      </p:sp>
      <p:sp>
        <p:nvSpPr>
          <p:cNvPr id="3" name="Text 1"/>
          <p:cNvSpPr/>
          <p:nvPr/>
        </p:nvSpPr>
        <p:spPr>
          <a:xfrm>
            <a:off x="740664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6F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実行プロセス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データ改善の実行プロセス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8138160" cy="676656"/>
          </a:xfrm>
          <a:prstGeom prst="roundRect">
            <a:avLst>
              <a:gd name="adj" fmla="val 10811"/>
            </a:avLst>
          </a:prstGeom>
          <a:solidFill>
            <a:srgbClr val="EDF2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121615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FE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078992"/>
            <a:ext cx="7498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「発見→分類→ルール化→運用定着」の4段階で、CRMデータの精度を上げます。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92440" y="47731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 flipV="1">
            <a:off x="1024494" y="2084832"/>
            <a:ext cx="2047524" cy="585216"/>
          </a:xfrm>
          <a:prstGeom prst="line">
            <a:avLst/>
          </a:prstGeom>
          <a:noFill/>
          <a:ln w="19050">
            <a:solidFill>
              <a:srgbClr val="3C547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48238" y="2084832"/>
            <a:ext cx="2047524" cy="585216"/>
          </a:xfrm>
          <a:prstGeom prst="line">
            <a:avLst/>
          </a:prstGeom>
          <a:noFill/>
          <a:ln w="19050">
            <a:solidFill>
              <a:srgbClr val="3C547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flipV="1">
            <a:off x="6071982" y="2084832"/>
            <a:ext cx="2047524" cy="585216"/>
          </a:xfrm>
          <a:prstGeom prst="line">
            <a:avLst/>
          </a:prstGeom>
          <a:noFill/>
          <a:ln w="19050">
            <a:solidFill>
              <a:srgbClr val="3C547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2920" y="2386584"/>
            <a:ext cx="566928" cy="566928"/>
          </a:xfrm>
          <a:prstGeom prst="ellipse">
            <a:avLst/>
          </a:prstGeom>
          <a:solidFill>
            <a:srgbClr val="2F6FE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3" name="Image 0" descr="/home/user/skill1/libeo-client-slides/assets/icon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321" y="2533985"/>
            <a:ext cx="272125" cy="272125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9144" y="3026664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エラーケースの発見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026664" y="1801368"/>
            <a:ext cx="566928" cy="566928"/>
          </a:xfrm>
          <a:prstGeom prst="ellipse">
            <a:avLst/>
          </a:prstGeom>
          <a:solidFill>
            <a:srgbClr val="2F6FE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6" name="Image 1" descr="/home/user/skill1/libeo-client-slides/assets/icons/funne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4065" y="1948769"/>
            <a:ext cx="272125" cy="272125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532888" y="244144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課題の分類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550408" y="2386584"/>
            <a:ext cx="566928" cy="566928"/>
          </a:xfrm>
          <a:prstGeom prst="ellipse">
            <a:avLst/>
          </a:prstGeom>
          <a:solidFill>
            <a:srgbClr val="2F6FE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19" name="Image 2" descr="/home/user/skill1/libeo-client-slides/assets/icons/docum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7809" y="2533985"/>
            <a:ext cx="272125" cy="27212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056632" y="3026664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記入ルール整備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8074152" y="1801368"/>
            <a:ext cx="566928" cy="566928"/>
          </a:xfrm>
          <a:prstGeom prst="ellipse">
            <a:avLst/>
          </a:prstGeom>
          <a:solidFill>
            <a:srgbClr val="2F6FE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pic>
        <p:nvPicPr>
          <p:cNvPr id="22" name="Image 3" descr="/home/user/skill1/libeo-client-slides/assets/icons/refres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1553" y="1948769"/>
            <a:ext cx="272125" cy="27212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580376" y="244144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定期運用に定着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FEB"/>
          </a:solidFill>
          <a:ln/>
        </p:spPr>
      </p:sp>
      <p:sp>
        <p:nvSpPr>
          <p:cNvPr id="3" name="Text 1"/>
          <p:cNvSpPr/>
          <p:nvPr/>
        </p:nvSpPr>
        <p:spPr>
          <a:xfrm>
            <a:off x="740664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6F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まとめ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今月のまとめと次のステップ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8138160" cy="420624"/>
          </a:xfrm>
          <a:prstGeom prst="roundRect">
            <a:avLst>
              <a:gd name="adj" fmla="val 17391"/>
            </a:avLst>
          </a:prstGeom>
          <a:solidFill>
            <a:srgbClr val="EDF2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121615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FE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078992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データ精度・導線・指名検索の3点を来月も継続してモニタリングします。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92440" y="47731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664208"/>
            <a:ext cx="8138160" cy="457200"/>
          </a:xfrm>
          <a:prstGeom prst="roundRect">
            <a:avLst>
              <a:gd name="adj" fmla="val 16000"/>
            </a:avLst>
          </a:prstGeom>
          <a:solidFill>
            <a:srgbClr val="EDF2FA"/>
          </a:solidFill>
          <a:ln/>
        </p:spPr>
      </p:sp>
      <p:sp>
        <p:nvSpPr>
          <p:cNvPr id="10" name="Shape 8"/>
          <p:cNvSpPr/>
          <p:nvPr/>
        </p:nvSpPr>
        <p:spPr>
          <a:xfrm>
            <a:off x="630936" y="1755648"/>
            <a:ext cx="274320" cy="274320"/>
          </a:xfrm>
          <a:prstGeom prst="ellipse">
            <a:avLst/>
          </a:prstGeom>
          <a:solidFill>
            <a:srgbClr val="2F6FEB"/>
          </a:solidFill>
          <a:ln/>
        </p:spPr>
      </p:sp>
      <p:pic>
        <p:nvPicPr>
          <p:cNvPr id="11" name="Image 0" descr="/home/user/skill1/libeo-client-slides/assets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259" y="1826971"/>
            <a:ext cx="131674" cy="13167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33272" y="1664208"/>
            <a:ext cx="7452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記載漏れの定期チェックでデータ精度を確保する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02920" y="2231136"/>
            <a:ext cx="8138160" cy="457200"/>
          </a:xfrm>
          <a:prstGeom prst="roundRect">
            <a:avLst>
              <a:gd name="adj" fmla="val 16000"/>
            </a:avLst>
          </a:prstGeom>
          <a:solidFill>
            <a:srgbClr val="EDF2FA"/>
          </a:solidFill>
          <a:ln/>
        </p:spPr>
      </p:sp>
      <p:sp>
        <p:nvSpPr>
          <p:cNvPr id="14" name="Shape 11"/>
          <p:cNvSpPr/>
          <p:nvPr/>
        </p:nvSpPr>
        <p:spPr>
          <a:xfrm>
            <a:off x="630936" y="2322576"/>
            <a:ext cx="274320" cy="274320"/>
          </a:xfrm>
          <a:prstGeom prst="ellipse">
            <a:avLst/>
          </a:prstGeom>
          <a:solidFill>
            <a:srgbClr val="2F6FEB"/>
          </a:solidFill>
          <a:ln/>
        </p:spPr>
      </p:sp>
      <p:pic>
        <p:nvPicPr>
          <p:cNvPr id="15" name="Image 1" descr="/home/user/skill1/libeo-client-slides/assets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259" y="2393899"/>
            <a:ext cx="131674" cy="13167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033272" y="2231136"/>
            <a:ext cx="7452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フォーム改善とCTA常時表示でCV導線を強化する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502920" y="2798064"/>
            <a:ext cx="8138160" cy="457200"/>
          </a:xfrm>
          <a:prstGeom prst="roundRect">
            <a:avLst>
              <a:gd name="adj" fmla="val 16000"/>
            </a:avLst>
          </a:prstGeom>
          <a:solidFill>
            <a:srgbClr val="EDF2FA"/>
          </a:solidFill>
          <a:ln/>
        </p:spPr>
      </p:sp>
      <p:sp>
        <p:nvSpPr>
          <p:cNvPr id="18" name="Shape 14"/>
          <p:cNvSpPr/>
          <p:nvPr/>
        </p:nvSpPr>
        <p:spPr>
          <a:xfrm>
            <a:off x="630936" y="2889504"/>
            <a:ext cx="274320" cy="274320"/>
          </a:xfrm>
          <a:prstGeom prst="ellipse">
            <a:avLst/>
          </a:prstGeom>
          <a:solidFill>
            <a:srgbClr val="2F6FEB"/>
          </a:solidFill>
          <a:ln/>
        </p:spPr>
      </p:sp>
      <p:pic>
        <p:nvPicPr>
          <p:cNvPr id="19" name="Image 2" descr="/home/user/skill1/libeo-client-slides/assets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" y="2960827"/>
            <a:ext cx="131674" cy="13167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33272" y="2798064"/>
            <a:ext cx="7452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地域コンテンツを拡充し指名検索の育成につなげる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0" y="4370832"/>
            <a:ext cx="9144000" cy="402336"/>
          </a:xfrm>
          <a:prstGeom prst="rect">
            <a:avLst/>
          </a:prstGeom>
          <a:solidFill>
            <a:srgbClr val="13223B"/>
          </a:solidFill>
          <a:ln/>
        </p:spPr>
      </p:sp>
      <p:sp>
        <p:nvSpPr>
          <p:cNvPr id="22" name="Text 17"/>
          <p:cNvSpPr/>
          <p:nvPr/>
        </p:nvSpPr>
        <p:spPr>
          <a:xfrm>
            <a:off x="502920" y="4370832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→ 来月は「データ精度」と「CV導線」の両輪で改善を継続します。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ED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skill1/libeo-client-slides/assets/dot-texture-navy.png">    </p:cNvPr>
          <p:cNvPicPr>
            <a:picLocks noChangeAspect="1"/>
          </p:cNvPicPr>
          <p:nvPr/>
        </p:nvPicPr>
        <p:blipFill>
          <a:blip r:embed="rId1">
            <a:alphaModFix amt="4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1828800"/>
            <a:ext cx="2011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0" b="1" dirty="0">
                <a:solidFill>
                  <a:srgbClr val="2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0" dirty="0"/>
          </a:p>
        </p:txBody>
      </p:sp>
      <p:sp>
        <p:nvSpPr>
          <p:cNvPr id="4" name="Shape 1"/>
          <p:cNvSpPr/>
          <p:nvPr/>
        </p:nvSpPr>
        <p:spPr>
          <a:xfrm>
            <a:off x="2788920" y="2057400"/>
            <a:ext cx="0" cy="1005840"/>
          </a:xfrm>
          <a:prstGeom prst="line">
            <a:avLst/>
          </a:prstGeom>
          <a:noFill/>
          <a:ln w="25400">
            <a:solidFill>
              <a:srgbClr val="2F6FE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3063240" y="182880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3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来月の打ち手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7543800" y="47731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C54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 / 3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FEB"/>
          </a:solidFill>
          <a:ln/>
        </p:spPr>
      </p:sp>
      <p:sp>
        <p:nvSpPr>
          <p:cNvPr id="3" name="Text 1"/>
          <p:cNvSpPr/>
          <p:nvPr/>
        </p:nvSpPr>
        <p:spPr>
          <a:xfrm>
            <a:off x="740664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6F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目標設定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来期のKPIツリー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8138160" cy="420624"/>
          </a:xfrm>
          <a:prstGeom prst="roundRect">
            <a:avLst>
              <a:gd name="adj" fmla="val 17391"/>
            </a:avLst>
          </a:prstGeom>
          <a:solidFill>
            <a:srgbClr val="EDF2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121615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FE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078992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流入→相談→受注の各段階で目標を設定し、ボトルネックを可視化します。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92440" y="47731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24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664208"/>
            <a:ext cx="1965960" cy="603504"/>
          </a:xfrm>
          <a:prstGeom prst="chevron">
            <a:avLst/>
          </a:prstGeom>
          <a:solidFill>
            <a:srgbClr val="13223B"/>
          </a:solidFill>
          <a:ln/>
        </p:spPr>
      </p:sp>
      <p:sp>
        <p:nvSpPr>
          <p:cNvPr id="10" name="Text 8"/>
          <p:cNvSpPr/>
          <p:nvPr/>
        </p:nvSpPr>
        <p:spPr>
          <a:xfrm>
            <a:off x="850392" y="1664208"/>
            <a:ext cx="1508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検索流入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2496312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94360" y="26060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セッション/月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28803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目標 </a:t>
            </a:r>
            <a:pPr algn="ctr" indent="0" marL="0">
              <a:buNone/>
            </a:pPr>
            <a:r>
              <a:rPr lang="en-US" sz="2000" b="1" dirty="0">
                <a:solidFill>
                  <a:srgbClr val="2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32,000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94360" y="33375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現状 </a:t>
            </a:r>
            <a:pPr algn="ctr" indent="0" marL="0">
              <a:buNone/>
            </a:pPr>
            <a:r>
              <a:rPr lang="en-US" sz="1600" b="1" dirty="0">
                <a:solidFill>
                  <a:srgbClr val="13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24,310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560320" y="1664208"/>
            <a:ext cx="1965960" cy="603504"/>
          </a:xfrm>
          <a:prstGeom prst="chevron">
            <a:avLst/>
          </a:prstGeom>
          <a:solidFill>
            <a:srgbClr val="13223B"/>
          </a:solidFill>
          <a:ln/>
        </p:spPr>
      </p:sp>
      <p:sp>
        <p:nvSpPr>
          <p:cNvPr id="16" name="Text 14"/>
          <p:cNvSpPr/>
          <p:nvPr/>
        </p:nvSpPr>
        <p:spPr>
          <a:xfrm>
            <a:off x="2907792" y="1664208"/>
            <a:ext cx="1508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サイト相談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60320" y="2496312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651760" y="26060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問い合わせ/月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651760" y="28803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目標 </a:t>
            </a:r>
            <a:pPr algn="ctr" indent="0" marL="0">
              <a:buNone/>
            </a:pPr>
            <a:r>
              <a:rPr lang="en-US" sz="2000" b="1" dirty="0">
                <a:solidFill>
                  <a:srgbClr val="2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651760" y="33375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現状 </a:t>
            </a:r>
            <a:pPr algn="ctr" indent="0" marL="0">
              <a:buNone/>
            </a:pPr>
            <a:r>
              <a:rPr lang="en-US" sz="1600" b="1" dirty="0">
                <a:solidFill>
                  <a:srgbClr val="13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17720" y="1664208"/>
            <a:ext cx="1965960" cy="603504"/>
          </a:xfrm>
          <a:prstGeom prst="chevron">
            <a:avLst/>
          </a:prstGeom>
          <a:solidFill>
            <a:srgbClr val="13223B"/>
          </a:solidFill>
          <a:ln/>
        </p:spPr>
      </p:sp>
      <p:sp>
        <p:nvSpPr>
          <p:cNvPr id="22" name="Text 20"/>
          <p:cNvSpPr/>
          <p:nvPr/>
        </p:nvSpPr>
        <p:spPr>
          <a:xfrm>
            <a:off x="4965192" y="1664208"/>
            <a:ext cx="1508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商談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17720" y="2496312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709160" y="26060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現地調査/月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09160" y="28803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目標 </a:t>
            </a:r>
            <a:pPr algn="ctr" indent="0" marL="0">
              <a:buNone/>
            </a:pPr>
            <a:r>
              <a:rPr lang="en-US" sz="2000" b="1" dirty="0">
                <a:solidFill>
                  <a:srgbClr val="2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709160" y="33375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現状 </a:t>
            </a:r>
            <a:pPr algn="ctr" indent="0" marL="0">
              <a:buNone/>
            </a:pPr>
            <a:r>
              <a:rPr lang="en-US" sz="1600" b="1" dirty="0">
                <a:solidFill>
                  <a:srgbClr val="13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675120" y="1664208"/>
            <a:ext cx="1965960" cy="603504"/>
          </a:xfrm>
          <a:prstGeom prst="chevron">
            <a:avLst/>
          </a:prstGeom>
          <a:solidFill>
            <a:srgbClr val="13223B"/>
          </a:solidFill>
          <a:ln/>
        </p:spPr>
      </p:sp>
      <p:sp>
        <p:nvSpPr>
          <p:cNvPr id="28" name="Text 26"/>
          <p:cNvSpPr/>
          <p:nvPr/>
        </p:nvSpPr>
        <p:spPr>
          <a:xfrm>
            <a:off x="7022592" y="1664208"/>
            <a:ext cx="1508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受注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675120" y="2496312"/>
            <a:ext cx="19659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766560" y="26060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成約/月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766560" y="288036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目標 </a:t>
            </a:r>
            <a:pPr algn="ctr" indent="0" marL="0">
              <a:buNone/>
            </a:pPr>
            <a:r>
              <a:rPr lang="en-US" sz="2000" b="1" dirty="0">
                <a:solidFill>
                  <a:srgbClr val="2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766560" y="333756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現状 </a:t>
            </a:r>
            <a:pPr algn="ctr" indent="0" marL="0">
              <a:buNone/>
            </a:pPr>
            <a:r>
              <a:rPr lang="en-US" sz="1600" b="1" dirty="0">
                <a:solidFill>
                  <a:srgbClr val="1322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FEB"/>
          </a:solidFill>
          <a:ln/>
        </p:spPr>
      </p:sp>
      <p:sp>
        <p:nvSpPr>
          <p:cNvPr id="3" name="Text 1"/>
          <p:cNvSpPr/>
          <p:nvPr/>
        </p:nvSpPr>
        <p:spPr>
          <a:xfrm>
            <a:off x="740664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6F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ご提案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来月からの支援プラン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8138160" cy="420624"/>
          </a:xfrm>
          <a:prstGeom prst="roundRect">
            <a:avLst>
              <a:gd name="adj" fmla="val 17391"/>
            </a:avLst>
          </a:prstGeom>
          <a:solidFill>
            <a:srgbClr val="EDF2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121615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FE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078992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現状の課題感から、標準プランでの継続をおすすめします。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92440" y="47731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25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755648"/>
            <a:ext cx="256032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195681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ライトプラン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228600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15万円</a:t>
            </a:r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/月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77240" y="283464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05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月次レポート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05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SEO簡易チェック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05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メール相談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91840" y="1664208"/>
            <a:ext cx="2560320" cy="2560320"/>
          </a:xfrm>
          <a:prstGeom prst="roundRect">
            <a:avLst>
              <a:gd name="adj" fmla="val 4286"/>
            </a:avLst>
          </a:prstGeom>
          <a:solidFill>
            <a:srgbClr val="13223B"/>
          </a:solidFill>
          <a:ln/>
          <a:effectLst>
            <a:outerShdw sx="100000" sy="100000" kx="0" ky="0" algn="bl" rotWithShape="0" blurRad="88900" dist="38100" dir="5400000">
              <a:srgbClr val="000000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069080" y="1527048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2F6FEB"/>
          </a:solidFill>
          <a:ln/>
        </p:spPr>
      </p:sp>
      <p:sp>
        <p:nvSpPr>
          <p:cNvPr id="15" name="Text 13"/>
          <p:cNvSpPr/>
          <p:nvPr/>
        </p:nvSpPr>
        <p:spPr>
          <a:xfrm>
            <a:off x="4069080" y="152704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おすすめ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474720" y="186537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標準プラン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474720" y="219456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30万円</a:t>
            </a:r>
            <a:pPr algn="ctr" indent="0" marL="0">
              <a:buNone/>
            </a:pPr>
            <a:r>
              <a:rPr lang="en-US" sz="1100" dirty="0">
                <a:solidFill>
                  <a:srgbClr val="D8E3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/月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3566160" y="274320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0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月次レポート＋分析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0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SEO/広告運用の実行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0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フォーム改善提案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05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月1回定例MTG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080760" y="1755648"/>
            <a:ext cx="256032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1E7F0"/>
            </a:solidFill>
            <a:prstDash val="solid"/>
          </a:ln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63640" y="195681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拡張プラン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63640" y="2286000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F6F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50万円</a:t>
            </a:r>
            <a:pPr algn="ctr" indent="0" marL="0">
              <a:buNone/>
            </a:pPr>
            <a:r>
              <a:rPr lang="en-US" sz="11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/月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355080" y="2834640"/>
            <a:ext cx="2103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05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標準プランの全て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05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LP/バナー制作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05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週次モニタリング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✓"/>
            </a:pPr>
            <a:r>
              <a:rPr lang="en-US" sz="105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専任ディレクター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FEB"/>
          </a:solidFill>
          <a:ln/>
        </p:spPr>
      </p:sp>
      <p:sp>
        <p:nvSpPr>
          <p:cNvPr id="3" name="Text 1"/>
          <p:cNvSpPr/>
          <p:nvPr/>
        </p:nvSpPr>
        <p:spPr>
          <a:xfrm>
            <a:off x="740664" y="384048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2F6FE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ロードマップ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62179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中期ロードマップ（3フェーズ）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02920" y="1078992"/>
            <a:ext cx="8138160" cy="676656"/>
          </a:xfrm>
          <a:prstGeom prst="roundRect">
            <a:avLst>
              <a:gd name="adj" fmla="val 10811"/>
            </a:avLst>
          </a:prstGeom>
          <a:solidFill>
            <a:srgbClr val="EDF2FA"/>
          </a:solidFill>
          <a:ln/>
        </p:spPr>
      </p:sp>
      <p:sp>
        <p:nvSpPr>
          <p:cNvPr id="6" name="Shape 4"/>
          <p:cNvSpPr/>
          <p:nvPr/>
        </p:nvSpPr>
        <p:spPr>
          <a:xfrm>
            <a:off x="667512" y="1216152"/>
            <a:ext cx="146304" cy="146304"/>
          </a:xfrm>
          <a:prstGeom prst="roundRect">
            <a:avLst>
              <a:gd name="adj" fmla="val 25000"/>
            </a:avLst>
          </a:prstGeom>
          <a:solidFill>
            <a:srgbClr val="2F6FEB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078992"/>
            <a:ext cx="74980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まず土台（コンテンツ）、次に刈り取り（導線）、最後にブランド（指名）の順で積み上げます。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092440" y="477316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26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02920" y="1920240"/>
            <a:ext cx="2663952" cy="640080"/>
          </a:xfrm>
          <a:prstGeom prst="chevron">
            <a:avLst/>
          </a:prstGeom>
          <a:solidFill>
            <a:srgbClr val="2F6FEB"/>
          </a:solidFill>
          <a:ln/>
        </p:spPr>
      </p:sp>
      <p:sp>
        <p:nvSpPr>
          <p:cNvPr id="10" name="Text 8"/>
          <p:cNvSpPr/>
          <p:nvPr/>
        </p:nvSpPr>
        <p:spPr>
          <a:xfrm>
            <a:off x="886968" y="1920240"/>
            <a:ext cx="2161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1
</a:t>
            </a:r>
            <a:pPr algn="ctr" indent="0" marL="0">
              <a:buNone/>
            </a:pPr>
            <a:r>
              <a:rPr lang="en-US" sz="900" dirty="0">
                <a:solidFill>
                  <a:srgbClr val="DCE7F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7〜9月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743200"/>
            <a:ext cx="257251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地域ページ拡充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構造化データ完備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内部リンク最適化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0024" y="1920240"/>
            <a:ext cx="2663952" cy="640080"/>
          </a:xfrm>
          <a:prstGeom prst="chevron">
            <a:avLst/>
          </a:prstGeom>
          <a:solidFill>
            <a:srgbClr val="13223B"/>
          </a:solidFill>
          <a:ln/>
        </p:spPr>
      </p:sp>
      <p:sp>
        <p:nvSpPr>
          <p:cNvPr id="13" name="Text 11"/>
          <p:cNvSpPr/>
          <p:nvPr/>
        </p:nvSpPr>
        <p:spPr>
          <a:xfrm>
            <a:off x="3624072" y="1920240"/>
            <a:ext cx="2161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2
</a:t>
            </a:r>
            <a:pPr algn="ctr" indent="0" marL="0">
              <a:buNone/>
            </a:pPr>
            <a:r>
              <a:rPr lang="en-US" sz="900" dirty="0">
                <a:solidFill>
                  <a:srgbClr val="DCE7F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10〜12月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85744" y="2743200"/>
            <a:ext cx="257251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CV導線の全面改善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フォーム最適化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A/Bテスト運用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77128" y="1920240"/>
            <a:ext cx="2663952" cy="640080"/>
          </a:xfrm>
          <a:prstGeom prst="chevron">
            <a:avLst/>
          </a:prstGeom>
          <a:solidFill>
            <a:srgbClr val="13223B"/>
          </a:solidFill>
          <a:ln/>
        </p:spPr>
      </p:sp>
      <p:sp>
        <p:nvSpPr>
          <p:cNvPr id="16" name="Text 14"/>
          <p:cNvSpPr/>
          <p:nvPr/>
        </p:nvSpPr>
        <p:spPr>
          <a:xfrm>
            <a:off x="6361176" y="1920240"/>
            <a:ext cx="2161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3
</a:t>
            </a:r>
            <a:pPr algn="ctr" indent="0" marL="0">
              <a:buNone/>
            </a:pPr>
            <a:r>
              <a:rPr lang="en-US" sz="900" dirty="0">
                <a:solidFill>
                  <a:srgbClr val="DCE7F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1〜3月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22848" y="2743200"/>
            <a:ext cx="2572512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指名検索の育成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実績・口コミPR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43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SNS連携強化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322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skill1/libeo-client-slides/assets/dot-texture-blue.png">    </p:cNvPr>
          <p:cNvPicPr>
            <a:picLocks noChangeAspect="1"/>
          </p:cNvPicPr>
          <p:nvPr/>
        </p:nvPicPr>
        <p:blipFill>
          <a:blip r:embed="rId1">
            <a:alphaModFix amt="4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200400" y="13258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spc="200" kern="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株式会社サンプル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731520" y="224028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ご清覧ありがとうございました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914400" y="297180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8E3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ご不明点・追加のご要望がございましたら</a:t>
            </a:r>
            <a:endParaRPr lang="en-US" sz="13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8E3F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担当までお申し付けください。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株式会社LIBEO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Web集客 月次レポート</dc:title>
  <dc:subject>PptxGenJS Presentation</dc:subject>
  <dc:creator>株式会社LIBEO</dc:creator>
  <cp:lastModifiedBy>株式会社LIBEO</cp:lastModifiedBy>
  <cp:revision>1</cp:revision>
  <dcterms:created xsi:type="dcterms:W3CDTF">2026-07-08T13:16:27Z</dcterms:created>
  <dcterms:modified xsi:type="dcterms:W3CDTF">2026-07-08T13:16:27Z</dcterms:modified>
</cp:coreProperties>
</file>