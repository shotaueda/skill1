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クリック数</c:v>
                </c:pt>
              </c:strCache>
            </c:strRef>
          </c:tx>
          <c:spPr>
            <a:solidFill>
              <a:srgbClr val="2F6FEB"/>
            </a:solidFill>
            <a:ln w="38100" cap="flat">
              <a:solidFill>
                <a:srgbClr val="2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EB"/>
              </a:solidFill>
              <a:ln w="9525" cap="flat">
                <a:solidFill>
                  <a:srgbClr val="2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12100</c:v>
                </c:pt>
                <c:pt idx="1">
                  <c:v>13050</c:v>
                </c:pt>
                <c:pt idx="2">
                  <c:v>13800</c:v>
                </c:pt>
                <c:pt idx="3">
                  <c:v>16200</c:v>
                </c:pt>
                <c:pt idx="4">
                  <c:v>20500</c:v>
                </c:pt>
                <c:pt idx="5">
                  <c:v>24310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ouchi-no-mikata-slides/assets/dot-texture-blue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960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株式会社サンプル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Web集客 月次レポート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8163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2026年6月度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2026年6月   |   株式会社LIBEO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About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私たちについて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Webマーケティング・Web制作・プロダクションマネジメントをワンストップで支援します。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株式会社LIBEO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SEO・検索広告・SNS広告・Web制作をワンストップで支援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事業内容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8803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Webマーケティング・Web制作・プロダクションマネジメント事業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246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大阪府大阪市西区新町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6118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嘉島 元貴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977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 / 検索広告 / SNS広告 / Web制作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920240"/>
            <a:ext cx="3566160" cy="1120140"/>
          </a:xfrm>
          <a:prstGeom prst="roundRect">
            <a:avLst>
              <a:gd name="adj" fmla="val 9796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249424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pPr indent="0" marL="0">
              <a:buNone/>
            </a:pPr>
            <a:r>
              <a:rPr lang="en-US" sz="11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年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74920" y="3177540"/>
            <a:ext cx="3566160" cy="1120140"/>
          </a:xfrm>
          <a:prstGeom prst="roundRect">
            <a:avLst>
              <a:gd name="adj" fmla="val 9796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32689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3506724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pPr indent="0" marL="0">
              <a:buNone/>
            </a:pPr>
            <a:r>
              <a:rPr lang="en-US" sz="11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https://libeo.co.jp/（法人情報は公開情報に基づく）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本日お伝えすること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今月のサマリー（KPIハイライト）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37944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92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検索流入の推移と要因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データ運用の認識ギャップ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1417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競合サイトとのポジション比較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837944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92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18928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改善のビフォー/アフター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313432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来月の打ち手とロードマップ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788920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ouchi-no-mikata-slides/assets/dot-texture-navy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2788920" y="2057400"/>
            <a:ext cx="0" cy="1005840"/>
          </a:xfrm>
          <a:prstGeom prst="line">
            <a:avLst/>
          </a:prstGeom>
          <a:noFill/>
          <a:ln w="25400">
            <a:solidFill>
              <a:srgbClr val="2F6F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1828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今月のサマリー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4380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KPIハイライト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自然検索流入が前月比 +18% と伸長。問い合わせ数も過去最高を更新しました。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自然検索セッション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24,310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+18.2%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9461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3177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問い合わせ件数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8605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pPr algn="ctr"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73177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+12件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346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電話CV率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774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pPr algn="ctr"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82346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31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 -0.2pt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799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1515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平均掲載順位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6943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pPr algn="ctr"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位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91515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+1.3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Google Search Console / GA4（2026-06-01〜06-30）。電話CVは Salesforce 連携データ。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検索流入の推移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4月の構造化データ実装以降、表示回数・クリック数ともに右肩上がりです。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920240"/>
          <a:ext cx="5669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46520" y="1920240"/>
            <a:ext cx="2194560" cy="24688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読み解き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46888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4月の構造化データ実装が起点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地域ページのリライトが寄与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指名検索も微増傾向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主要指標と媒体別の内訳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全体指標に加えて、媒体別の内訳まで1枚で俯瞰できるようにしています。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24,310</a:t>
            </a:r>
            <a:pPr indent="0" marL="0">
              <a:buNone/>
            </a:pPr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▲18.2%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8318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318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777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777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pPr indent="0" marL="0">
              <a:buNone/>
            </a:pPr>
            <a:r>
              <a:rPr lang="en-US" sz="900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▲12件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pPr indent="0" marL="0">
              <a:buNone/>
            </a:pPr>
            <a:r>
              <a:rPr lang="en-US" sz="900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pPr indent="0" marL="0">
              <a:buNone/>
            </a:pPr>
            <a:r>
              <a:rPr lang="en-US" sz="900" b="1" dirty="0">
                <a:solidFill>
                  <a:srgbClr val="D731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▼0.2pt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4370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370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829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平均順位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829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pPr indent="0" marL="0">
              <a:buNone/>
            </a:pPr>
            <a:r>
              <a:rPr lang="en-US" sz="900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位</a:t>
            </a:r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▲1.3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41448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554480"/>
                <a:gridCol w="10515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媒体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セッション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CV率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自然検索（SEO）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15,420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3.4%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Google広告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5,280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SNS経由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2,140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3.7%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指名検索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1,470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3.4%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データ運用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CRMデータと現場実態のズレ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CRM上の指標だけでは「問い合わせ質の変化」に気づくまで時間がかかっています。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58368" cy="658368"/>
          </a:xfrm>
          <a:prstGeom prst="ellipse">
            <a:avLst/>
          </a:prstGeom>
          <a:solidFill>
            <a:srgbClr val="3C5478"/>
          </a:solidFill>
          <a:ln/>
        </p:spPr>
      </p:sp>
      <p:pic>
        <p:nvPicPr>
          <p:cNvPr id="10" name="Image 0" descr="/home/user/skill1/ouchi-no-mikata-slides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2091416"/>
            <a:ext cx="316017" cy="3160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259689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マーケ担当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89888" y="1920240"/>
            <a:ext cx="7251192" cy="658368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/>
        </p:spPr>
      </p:sp>
      <p:sp>
        <p:nvSpPr>
          <p:cNvPr id="13" name="Text 10"/>
          <p:cNvSpPr/>
          <p:nvPr/>
        </p:nvSpPr>
        <p:spPr>
          <a:xfrm>
            <a:off x="1572768" y="1993392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検索広告で「対応外×商品名×効かない」の語句からCVが取れている。この系統を強化したい。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798064"/>
            <a:ext cx="38176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926080"/>
            <a:ext cx="292608" cy="292608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6" name="Image 1" descr="/home/user/skill1/ouchi-no-mikata-slides/assets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2" y="3002158"/>
            <a:ext cx="140452" cy="1404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2907792"/>
            <a:ext cx="3131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CRMで見えているデータ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" y="3291840"/>
            <a:ext cx="34518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問い合わせ率は上昇（数値上は良好）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失注理由は「対象外」として記録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現調獲得率が低下（原因が見えない）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23460" y="2798064"/>
            <a:ext cx="38176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69764" y="2926080"/>
            <a:ext cx="292608" cy="292608"/>
          </a:xfrm>
          <a:prstGeom prst="ellipse">
            <a:avLst/>
          </a:prstGeom>
          <a:solidFill>
            <a:srgbClr val="D73120"/>
          </a:solidFill>
          <a:ln/>
        </p:spPr>
      </p:sp>
      <p:pic>
        <p:nvPicPr>
          <p:cNvPr id="21" name="Image 2" descr="/home/user/skill1/ouchi-no-mikata-slides/assets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842" y="3002158"/>
            <a:ext cx="140452" cy="1404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72100" y="2907792"/>
            <a:ext cx="3131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実際に起きていること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06340" y="3291840"/>
            <a:ext cx="34518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低単価層（対応外の問い合わせ）が増加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現調まで至らない問い合わせが増えている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失注内訳がCRM上で区別できない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320540" y="32324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502920" y="4379976"/>
            <a:ext cx="8138160" cy="402336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437997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CRMのデータだけでは「問い合わせ質の変化」を把握できず、気づきに時間とコストが生じる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課題と打ち手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残課題と次の一手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流入は伸びた一方、CV率に伸びしろ。導線とフォームの改善を優先します。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749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202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D7312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148840"/>
            <a:ext cx="3749040" cy="228600"/>
          </a:xfrm>
          <a:prstGeom prst="rect">
            <a:avLst/>
          </a:prstGeom>
          <a:solidFill>
            <a:srgbClr val="D73120"/>
          </a:solidFill>
          <a:ln/>
        </p:spPr>
      </p:sp>
      <p:pic>
        <p:nvPicPr>
          <p:cNvPr id="12" name="Image 0" descr="/home/user/skill1/ouchi-no-mikata-slides/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02082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14984" y="19202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現状の課題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コラム流入は多いが問い合わせに繋がりにくい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電話CTAがファーストビュー外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フォーム離脱率が 62% と高い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スマホでの表示速度に改善余地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92040" y="1920240"/>
            <a:ext cx="3749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92040" y="19202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/>
        </p:spPr>
      </p:sp>
      <p:sp>
        <p:nvSpPr>
          <p:cNvPr id="17" name="Shape 14"/>
          <p:cNvSpPr/>
          <p:nvPr/>
        </p:nvSpPr>
        <p:spPr>
          <a:xfrm>
            <a:off x="4892040" y="2148840"/>
            <a:ext cx="3749040" cy="228600"/>
          </a:xfrm>
          <a:prstGeom prst="rect">
            <a:avLst/>
          </a:prstGeom>
          <a:solidFill>
            <a:srgbClr val="2E9E6B"/>
          </a:solidFill>
          <a:ln/>
        </p:spPr>
      </p:sp>
      <p:pic>
        <p:nvPicPr>
          <p:cNvPr id="18" name="Image 1" descr="/home/user/skill1/ouchi-no-mikata-slides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020824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04104" y="19202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来月の施策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12064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コラム末尾に地域別CTAを設置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追従電話ボタンを常時表示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フォーム項目を9→5に削減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画像のWebP化・遅延読込を実装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361688" y="2898648"/>
            <a:ext cx="420624" cy="512064"/>
          </a:xfrm>
          <a:prstGeom prst="chevron">
            <a:avLst/>
          </a:prstGeom>
          <a:solidFill>
            <a:srgbClr val="2F6FE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改善提案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フォーム改善のビフォー/アフター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入力項目を絞り、スマホでの完了率を優先したフォームに刷新します。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EAF0F8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01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入力9項目・完了率38%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2532888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氏名・フリガナを別項目で要求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住所を都道府県〜番地まで必須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相談内容を自由記述のみ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664208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13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801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入力5項目・完了率想定55%+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38928" y="2532888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フリガナは自動生成に変更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市区町村までの入力に簡略化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相談内容はチェック選択式に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2596896"/>
            <a:ext cx="420624" cy="512064"/>
          </a:xfrm>
          <a:prstGeom prst="chevron">
            <a:avLst/>
          </a:prstGeom>
          <a:solidFill>
            <a:srgbClr val="2F6FE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次フェーズで強化する3領域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「コンテンツ」「導線」「指名検索」の3点を同時に伸ばす設計です。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2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75232" y="1920240"/>
            <a:ext cx="585216" cy="585216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1" name="Image 0" descr="/home/user/skill1/ouchi-no-mikata-slides/assets/icons/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388" y="2072396"/>
            <a:ext cx="280904" cy="280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624328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地域コンテンツの拡充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088" y="3145536"/>
            <a:ext cx="212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市区町村別ページを30件追加し、ローカル検索の網羅率を高める。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07080" y="1664208"/>
            <a:ext cx="252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79392" y="1920240"/>
            <a:ext cx="585216" cy="585216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6" name="Image 1" descr="/home/user/skill1/ouchi-no-mikata-slides/assets/icons/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548" y="2072396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89960" y="2624328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CV導線の最適化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08248" y="3145536"/>
            <a:ext cx="212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追従CTA・フォーム改善で、流入を取りこぼさず問い合わせへ繋ぐ。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11240" y="1664208"/>
            <a:ext cx="252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83552" y="1920240"/>
            <a:ext cx="585216" cy="585216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21" name="Image 2" descr="/home/user/skill1/ouchi-no-mikata-slides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708" y="207239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94120" y="2624328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指名検索の育成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12408" y="3145536"/>
            <a:ext cx="212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SNS・実績PRでブランド想起を高め、安定した指名流入を作る。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競合比較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主要KBFでの競合ポジション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「実績の見せ方」「保証の手厚さ」で優位。価格表現に改善余地があります。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25880"/>
                <a:gridCol w="132588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購買決定要因（KBF）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当サイト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施工実績の網羅性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312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料金のわかりやすさ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保証制度の手厚さ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312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対応エリアの広さ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口コミ・評判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優位 / ○ 同等 / △ やや劣位 / ✕ 劣位。評価は2026年6月時点の各社サイト調査に基づく。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競合環境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ポジショニングマップ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「実績の豊富さ × 価格の明快さ」で、当サイトは右上の空白地帯を狙えます。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3200400"/>
            <a:ext cx="6309360" cy="0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0" cy="2560320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価格が明快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価格が不透明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実績が豊富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実績が乏しい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72150" y="2368296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15534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当サイト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92140" y="3246120"/>
            <a:ext cx="457200" cy="457200"/>
          </a:xfrm>
          <a:prstGeom prst="ellipse">
            <a:avLst/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0660" y="3310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94660" y="2606040"/>
            <a:ext cx="457200" cy="457200"/>
          </a:xfrm>
          <a:prstGeom prst="ellipse">
            <a:avLst/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83180" y="26700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24912" y="3429000"/>
            <a:ext cx="457200" cy="457200"/>
          </a:xfrm>
          <a:prstGeom prst="ellipse">
            <a:avLst/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13432" y="3493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C社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狙うべき顧客ニーズの重なり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「価格重視」と「実績重視」が交差する層に対して、保証訴求が刺さります。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7296" y="1966358"/>
            <a:ext cx="1729409" cy="1729409"/>
          </a:xfrm>
          <a:prstGeom prst="ellipse">
            <a:avLst/>
          </a:prstGeom>
          <a:solidFill>
            <a:srgbClr val="2F6FEB">
              <a:alpha val="38000"/>
            </a:srgbClr>
          </a:solidFill>
          <a:ln w="19050">
            <a:solidFill>
              <a:srgbClr val="2F6F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3061" y="2635062"/>
            <a:ext cx="1729409" cy="1729409"/>
          </a:xfrm>
          <a:prstGeom prst="ellipse">
            <a:avLst/>
          </a:prstGeom>
          <a:solidFill>
            <a:srgbClr val="3C5478">
              <a:alpha val="38000"/>
            </a:srgbClr>
          </a:solidFill>
          <a:ln w="19050">
            <a:solidFill>
              <a:srgbClr val="3C5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91530" y="2635062"/>
            <a:ext cx="1729409" cy="1729409"/>
          </a:xfrm>
          <a:prstGeom prst="ellipse">
            <a:avLst/>
          </a:prstGeom>
          <a:solidFill>
            <a:srgbClr val="2E9E6B">
              <a:alpha val="38000"/>
            </a:srgbClr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6896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価格重視層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9456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見積もり比較を重視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4944" y="399553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実績重視層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4944" y="425156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施工件数・口コミを重視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1998" y="399553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保証重視層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51998" y="425156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長期保証の有無を重視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狙うべき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中心顧客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実行体制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プロジェクト実行体制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LIBEO側のディレクターを窓口に、専門チームで各施策を分担します。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166420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664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ディレクター（窓口）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212848"/>
            <a:ext cx="0" cy="256032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2468880"/>
            <a:ext cx="6172200" cy="0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SEO担当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コンテンツ・内部対策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33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46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746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広告運用担当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Google/SNS広告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007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20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20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デザイナー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LP・バナー制作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581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94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894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データ分析担当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GA4/CRM連携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対応可能な市場規模の整理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当面はSOM（即応可能な顧客）の刈り取り精度を優先して高めます。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664208"/>
            <a:ext cx="2651760" cy="2651760"/>
          </a:xfrm>
          <a:prstGeom prst="ellipse">
            <a:avLst/>
          </a:prstGeom>
          <a:solidFill>
            <a:srgbClr val="D8E3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106168"/>
            <a:ext cx="1767840" cy="1767840"/>
          </a:xfrm>
          <a:prstGeom prst="ellipse">
            <a:avLst/>
          </a:prstGeom>
          <a:solidFill>
            <a:srgbClr val="E3E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9720" y="2548128"/>
            <a:ext cx="883920" cy="883920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700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約4.2億円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20238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8E3F0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0792" y="166420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 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約120億円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50792" y="210616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地域の関連市場全体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29077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3ECFC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0792" y="254812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 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約38億円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50792" y="299008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対応可能エリア×客層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7917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F6FE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43204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 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約4.2億円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50792" y="387400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当面刈り取り可能な需要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実行スケジュール（ガント）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7月にデータ基盤を整備し、8月以降は導線改善と計測を並行して進めます。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3568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568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676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676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9892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892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2000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CRM項目整備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2240280"/>
            <a:ext cx="1476756" cy="237744"/>
          </a:xfrm>
          <a:prstGeom prst="roundRect">
            <a:avLst>
              <a:gd name="adj" fmla="val 23077"/>
            </a:avLst>
          </a:prstGeom>
          <a:solidFill>
            <a:srgbClr val="2F6F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542032"/>
            <a:ext cx="8138160" cy="36576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地域ページ拡充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52572" y="2606040"/>
            <a:ext cx="1987296" cy="237744"/>
          </a:xfrm>
          <a:prstGeom prst="roundRect">
            <a:avLst>
              <a:gd name="adj" fmla="val 23077"/>
            </a:avLst>
          </a:prstGeom>
          <a:solidFill>
            <a:srgbClr val="3C547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9077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73652" y="2971800"/>
            <a:ext cx="966216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273552"/>
            <a:ext cx="8138160" cy="36576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2735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追従CTA実装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84192" y="3337560"/>
            <a:ext cx="966216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393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効果測定・改善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05272" y="3703320"/>
            <a:ext cx="3008376" cy="237744"/>
          </a:xfrm>
          <a:prstGeom prst="roundRect">
            <a:avLst>
              <a:gd name="adj" fmla="val 23077"/>
            </a:avLst>
          </a:prstGeom>
          <a:solidFill>
            <a:srgbClr val="2F6FEB"/>
          </a:solidFill>
          <a:ln/>
        </p:spPr>
      </p:sp>
      <p:sp>
        <p:nvSpPr>
          <p:cNvPr id="33" name="Shape 31"/>
          <p:cNvSpPr/>
          <p:nvPr/>
        </p:nvSpPr>
        <p:spPr>
          <a:xfrm>
            <a:off x="251460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3568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676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9892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000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4108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2176272"/>
            <a:ext cx="8138160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主要マイルストーン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節目ごとの意思決定ポイントを、日付付きの年表で共有します。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7498080" cy="0"/>
          </a:xfrm>
          <a:prstGeom prst="line">
            <a:avLst/>
          </a:prstGeom>
          <a:noFill/>
          <a:ln w="25400">
            <a:solidFill>
              <a:srgbClr val="3C5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キックオフ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" y="18653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CRM項目整備開始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173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0800" y="3127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5080" y="33284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中間レビュー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5080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フォーム改善公開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2109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016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444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4440" y="18653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A/Bテスト結果報告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045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3127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33284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次期計画策定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指名検索施策を協議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戦略整理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取り組みの優先順位ピラミッド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土台となるデータ精度から着手し、最終的に指名検索の育成へ積み上げます。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1670" y="1920240"/>
            <a:ext cx="891540" cy="621792"/>
          </a:xfrm>
          <a:prstGeom prst="triangle">
            <a:avLst/>
          </a:prstGeom>
          <a:solidFill>
            <a:srgbClr val="1322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48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3223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920240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指名検索の育成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223113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ブランド想起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85900" y="2596896"/>
            <a:ext cx="1783080" cy="621792"/>
          </a:xfrm>
          <a:prstGeom prst="rect">
            <a:avLst/>
          </a:prstGeom>
          <a:solidFill>
            <a:srgbClr val="3C5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82549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C5478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596896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CV導線の最適化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290779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フォーム・CTA改善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0130" y="3273552"/>
            <a:ext cx="2674620" cy="621792"/>
          </a:xfrm>
          <a:prstGeom prst="rect">
            <a:avLst/>
          </a:prstGeom>
          <a:solidFill>
            <a:srgbClr val="2F6F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5021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F6FE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273552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コンテンツ拡充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3584448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地域ページ・構造化データ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950208"/>
            <a:ext cx="3566160" cy="621792"/>
          </a:xfrm>
          <a:prstGeom prst="rect">
            <a:avLst/>
          </a:prstGeom>
          <a:solidFill>
            <a:srgbClr val="E3E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1788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3ECFC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950208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データ精度の担保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426110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CRM/GA4の整備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参考事例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類似施策での改善事例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同種の施策で、いずれも問い合わせ数が2倍前後に伸びた実績があります。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64208"/>
            <a:ext cx="2529840" cy="384048"/>
          </a:xfrm>
          <a:prstGeom prst="roundRect">
            <a:avLst>
              <a:gd name="adj" fmla="val 19048"/>
            </a:avLst>
          </a:prstGeom>
          <a:solidFill>
            <a:srgbClr val="13223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56232"/>
            <a:ext cx="2529840" cy="192024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64208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地域ページ拡充事例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67128"/>
            <a:ext cx="2200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近隣30エリアのページを新設し、地域名×サービス名の検索順位が改善。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3602736"/>
            <a:ext cx="2200656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225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32件/月</a:t>
            </a:r>
            <a:pPr algn="ctr" indent="0" marL="0">
              <a:buNone/>
            </a:pPr>
            <a:r>
              <a:rPr lang="en-US" sz="12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68件/月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25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問い合わせ件数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708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07080" y="1664208"/>
            <a:ext cx="2529840" cy="384048"/>
          </a:xfrm>
          <a:prstGeom prst="roundRect">
            <a:avLst>
              <a:gd name="adj" fmla="val 19048"/>
            </a:avLst>
          </a:prstGeom>
          <a:solidFill>
            <a:srgbClr val="1322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307080" y="1856232"/>
            <a:ext cx="2529840" cy="192024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3444240" y="1664208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フォーム改善事例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1672" y="2167128"/>
            <a:ext cx="2200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入力項目を半減し、スマホ完了率を重視したUIに刷新。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1672" y="3602736"/>
            <a:ext cx="2200656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4240" y="3657600"/>
            <a:ext cx="225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ctr" indent="0" marL="0">
              <a:buNone/>
            </a:pPr>
            <a:r>
              <a:rPr lang="en-US" sz="12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44240" y="3931920"/>
            <a:ext cx="225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フォーム完了率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1124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1240" y="1664208"/>
            <a:ext cx="2529840" cy="384048"/>
          </a:xfrm>
          <a:prstGeom prst="roundRect">
            <a:avLst>
              <a:gd name="adj" fmla="val 19048"/>
            </a:avLst>
          </a:prstGeom>
          <a:solidFill>
            <a:srgbClr val="13223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1240" y="1856232"/>
            <a:ext cx="2529840" cy="192024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8" name="Text 26"/>
          <p:cNvSpPr/>
          <p:nvPr/>
        </p:nvSpPr>
        <p:spPr>
          <a:xfrm>
            <a:off x="6248400" y="1664208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追従CTA導入事例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5832" y="2167128"/>
            <a:ext cx="2200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コラム記事に追従型の電話・問い合わせボタンを常時表示。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5832" y="3602736"/>
            <a:ext cx="2200656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8400" y="3657600"/>
            <a:ext cx="225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pPr algn="ctr" indent="0" marL="0">
              <a:buNone/>
            </a:pPr>
            <a:r>
              <a:rPr lang="en-US" sz="12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48400" y="3931920"/>
            <a:ext cx="225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CV率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主要ペルソナの整理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検討フェーズの異なる3つのペルソナに向けて、訴求を出し分けます。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56944" y="1865376"/>
            <a:ext cx="621792" cy="621792"/>
          </a:xfrm>
          <a:prstGeom prst="ellipse">
            <a:avLst/>
          </a:prstGeom>
          <a:solidFill>
            <a:srgbClr val="E3ECFC"/>
          </a:solidFill>
          <a:ln w="15875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6944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緊急対応layer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30代・持ち家・初回相談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3108960"/>
            <a:ext cx="2127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トラブル発生で即日対応を希望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価格より対応速度を重視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スマホで検索し即電話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0708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61104" y="1865376"/>
            <a:ext cx="621792" cy="621792"/>
          </a:xfrm>
          <a:prstGeom prst="ellipse">
            <a:avLst/>
          </a:prstGeom>
          <a:solidFill>
            <a:srgbClr val="E3ECFC"/>
          </a:solidFill>
          <a:ln w="15875">
            <a:solidFill>
              <a:srgbClr val="2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1104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98520" y="256032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比較検討layer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98520" y="2816352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40代・持ち家・複数社比較中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08248" y="3108960"/>
            <a:ext cx="2127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3〜5社を見積もり比較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保証内容と実績を重視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コラムを読み込んでから問い合わせ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124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65264" y="1865376"/>
            <a:ext cx="621792" cy="621792"/>
          </a:xfrm>
          <a:prstGeom prst="ellipse">
            <a:avLst/>
          </a:prstGeom>
          <a:solidFill>
            <a:srgbClr val="E3ECFC"/>
          </a:solidFill>
          <a:ln w="15875">
            <a:solidFill>
              <a:srgbClr val="2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5264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02680" y="256032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情報収集layer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02680" y="2816352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50代・将来の備えとして検討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2408" y="3108960"/>
            <a:ext cx="2127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まだ緊急性は低い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事例・口コミを重視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メルマガや資料請求で情報収集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問い合わせまでのカスタマージャーニー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比較検討フェーズでの離脱が最も多く、事例コンテンツの拡充が鍵になります。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検索広告・SNS広告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「対応してくれる会社はあるか」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79576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9576" y="3858768"/>
            <a:ext cx="164592" cy="274320"/>
          </a:xfrm>
          <a:prstGeom prst="rect">
            <a:avLst/>
          </a:prstGeom>
          <a:solidFill>
            <a:srgbClr val="3C5478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7984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2157984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興味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57984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49424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コラム記事・事例ページ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9424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「ここは信頼できそうか」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3858768"/>
            <a:ext cx="164592" cy="274320"/>
          </a:xfrm>
          <a:prstGeom prst="rect">
            <a:avLst/>
          </a:prstGeom>
          <a:solidFill>
            <a:srgbClr val="3C5478"/>
          </a:solidFill>
          <a:ln/>
        </p:spPr>
      </p:sp>
      <p:sp>
        <p:nvSpPr>
          <p:cNvPr id="23" name="Shape 21"/>
          <p:cNvSpPr/>
          <p:nvPr/>
        </p:nvSpPr>
        <p:spPr>
          <a:xfrm>
            <a:off x="3813048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3813048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比較検討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13048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04488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料金ページ・口コミサイト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04488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「他社と比べてどうか」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9704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9704" y="3950208"/>
            <a:ext cx="164592" cy="182880"/>
          </a:xfrm>
          <a:prstGeom prst="rect">
            <a:avLst/>
          </a:prstGeom>
          <a:solidFill>
            <a:srgbClr val="D7312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68112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68112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68112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59552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フォーム・電話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59552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「今すぐ相談したい」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767328"/>
            <a:ext cx="164592" cy="36576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123176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38" name="Text 36"/>
          <p:cNvSpPr/>
          <p:nvPr/>
        </p:nvSpPr>
        <p:spPr>
          <a:xfrm>
            <a:off x="7123176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23176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14616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施工・アフターフォロー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14616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「対応は満足できたか」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99832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9832" y="3675888"/>
            <a:ext cx="164592" cy="457200"/>
          </a:xfrm>
          <a:prstGeom prst="rect">
            <a:avLst/>
          </a:prstGeom>
          <a:solidFill>
            <a:srgbClr val="2E9E6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実行プロセス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データ改善の実行プロセス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「発見→分類→ルール化→運用定着」の4段階で、CRMデータの精度を上げます。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flipV="1">
            <a:off x="1024494" y="2084832"/>
            <a:ext cx="2047524" cy="585216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8238" y="2084832"/>
            <a:ext cx="2047524" cy="585216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071982" y="2084832"/>
            <a:ext cx="2047524" cy="585216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86584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home/user/skill1/ouchi-no-mikata-slides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2533985"/>
            <a:ext cx="272125" cy="27212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" y="302666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エラーケースの発見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26664" y="1801368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/home/user/skill1/ouchi-no-mikata-slides/assets/icons/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065" y="1948769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32888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課題の分類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550408" y="2386584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/home/user/skill1/ouchi-no-mikata-slides/assets/icons/docu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09" y="2533985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56632" y="302666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記入ルール整備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74152" y="1801368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/home/user/skill1/ouchi-no-mikata-slides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553" y="194876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0376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定期運用に定着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今月のまとめと次のステップ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データ精度・導線・指名検索の3点を来月も継続してモニタリングします。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" y="1755648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1" name="Image 0" descr="/home/user/skill1/ouchi-no-mikata-slides/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26971"/>
            <a:ext cx="131674" cy="1316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166420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記載漏れの定期チェックでデータ精度を確保する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223113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" y="2322576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5" name="Image 1" descr="/home/user/skill1/ouchi-no-mikata-slides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393899"/>
            <a:ext cx="131674" cy="1316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3272" y="2231136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フォーム改善とCTA常時表示でCV導線を強化する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279806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" y="2889504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9" name="Image 2" descr="/home/user/skill1/ouchi-no-mikata-slides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960827"/>
            <a:ext cx="131674" cy="1316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" y="279806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地域コンテンツを拡充し指名検索の育成につなげる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0" y="4370832"/>
            <a:ext cx="9144000" cy="402336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2" name="Text 17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来月は「データ精度」と「CV導線」の両輪で改善を継続します。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ouchi-no-mikata-slides/assets/dot-texture-navy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2788920" y="2057400"/>
            <a:ext cx="0" cy="1005840"/>
          </a:xfrm>
          <a:prstGeom prst="line">
            <a:avLst/>
          </a:prstGeom>
          <a:noFill/>
          <a:ln w="25400">
            <a:solidFill>
              <a:srgbClr val="2F6F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1828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来月の打ち手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4380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目標設定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来期のKPIツリー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流入→相談→受注の各段階で目標を設定し、ボトルネックを可視化します。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検索流入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セッション/月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サイト相談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問い合わせ/月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現地調査/月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28" name="Text 26"/>
          <p:cNvSpPr/>
          <p:nvPr/>
        </p:nvSpPr>
        <p:spPr>
          <a:xfrm>
            <a:off x="70225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成約/月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来月からの支援プラン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現状の課題感から、標準プランでの継続をおすすめします。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ライトプラン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15万円</a:t>
            </a:r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SEO簡易チェック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メール相談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664208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69080" y="152704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1527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1865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標準プラン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1945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30万円</a:t>
            </a:r>
            <a:pPr algn="ctr" indent="0" marL="0">
              <a:buNone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月次レポート＋分析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SEO/広告運用の実行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フォーム改善提案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月1回定例MTG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755648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拡張プラン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50万円</a:t>
            </a:r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5508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標準プランの全て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LP/バナー制作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週次モニタリング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専任ディレクター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中期ロードマップ（3フェーズ）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まず土台（コンテンツ）、次に刈り取り（導線）、最後にブランド（指名）の順で積み上げます。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663952" cy="640080"/>
          </a:xfrm>
          <a:prstGeom prst="chevron">
            <a:avLst/>
          </a:prstGeom>
          <a:solidFill>
            <a:srgbClr val="2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920240"/>
            <a:ext cx="216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
</a:t>
            </a:r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7〜9月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572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地域ページ拡充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構造化データ完備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内部リンク最適化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0024" y="1920240"/>
            <a:ext cx="2663952" cy="640080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24072" y="1920240"/>
            <a:ext cx="216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
</a:t>
            </a:r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10〜12月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5744" y="2743200"/>
            <a:ext cx="2572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CV導線の全面改善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フォーム最適化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A/Bテスト運用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77128" y="1920240"/>
            <a:ext cx="2663952" cy="640080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1176" y="1920240"/>
            <a:ext cx="216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
</a:t>
            </a:r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22848" y="2743200"/>
            <a:ext cx="2572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指名検索の育成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実績・口コミPR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SNS連携強化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ouchi-no-mikata-slides/assets/dot-texture-blue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株式会社サンプル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ご清覧ありがとうございました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ご不明点・追加のご要望がございましたら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担当までお申し付けください。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株式会社LIBEO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Web集客 月次レポート</dc:title>
  <dc:subject>PptxGenJS Presentation</dc:subject>
  <dc:creator>株式会社LIBEO</dc:creator>
  <cp:lastModifiedBy>株式会社LIBEO</cp:lastModifiedBy>
  <cp:revision>1</cp:revision>
  <dcterms:created xsi:type="dcterms:W3CDTF">2026-07-08T12:12:21Z</dcterms:created>
  <dcterms:modified xsi:type="dcterms:W3CDTF">2026-07-08T12:12:21Z</dcterms:modified>
</cp:coreProperties>
</file>